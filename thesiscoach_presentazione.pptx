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0" r:id="rId1"/>
  </p:sldMasterIdLst>
  <p:sldIdLst>
    <p:sldId id="256" r:id="rId2"/>
    <p:sldId id="272" r:id="rId3"/>
    <p:sldId id="257" r:id="rId4"/>
    <p:sldId id="259" r:id="rId5"/>
    <p:sldId id="260" r:id="rId6"/>
    <p:sldId id="261" r:id="rId7"/>
    <p:sldId id="263" r:id="rId8"/>
    <p:sldId id="262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16D53"/>
    <a:srgbClr val="D53774"/>
    <a:srgbClr val="A45574"/>
    <a:srgbClr val="BF1F38"/>
    <a:srgbClr val="99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216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/>
              <a:t>Fare clic per modificare lo stile del sottotitolo dello schema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736193-EDE3-4BB5-AE5F-E6E5472AB8BE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C2C9B9-B4B7-45CC-A7EB-16F8BADE9045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7485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736193-EDE3-4BB5-AE5F-E6E5472AB8BE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C2C9B9-B4B7-45CC-A7EB-16F8BADE9045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94127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736193-EDE3-4BB5-AE5F-E6E5472AB8BE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C2C9B9-B4B7-45CC-A7EB-16F8BADE9045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16684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736193-EDE3-4BB5-AE5F-E6E5472AB8BE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C2C9B9-B4B7-45CC-A7EB-16F8BADE9045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84083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736193-EDE3-4BB5-AE5F-E6E5472AB8BE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C2C9B9-B4B7-45CC-A7EB-16F8BADE9045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01238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736193-EDE3-4BB5-AE5F-E6E5472AB8BE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C2C9B9-B4B7-45CC-A7EB-16F8BADE9045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09063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736193-EDE3-4BB5-AE5F-E6E5472AB8BE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C2C9B9-B4B7-45CC-A7EB-16F8BADE9045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9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736193-EDE3-4BB5-AE5F-E6E5472AB8BE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C2C9B9-B4B7-45CC-A7EB-16F8BADE9045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19691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it-IT"/>
              <a:t>Fare clic sull'icona per inserire un'immagine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736193-EDE3-4BB5-AE5F-E6E5472AB8BE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C2C9B9-B4B7-45CC-A7EB-16F8BADE9045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46717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736193-EDE3-4BB5-AE5F-E6E5472AB8BE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C2C9B9-B4B7-45CC-A7EB-16F8BADE9045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19114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736193-EDE3-4BB5-AE5F-E6E5472AB8BE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C2C9B9-B4B7-45CC-A7EB-16F8BADE9045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44550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7736193-EDE3-4BB5-AE5F-E6E5472AB8BE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CC2C9B9-B4B7-45CC-A7EB-16F8BADE9045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85831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1" r:id="rId1"/>
    <p:sldLayoutId id="2147483742" r:id="rId2"/>
    <p:sldLayoutId id="2147483743" r:id="rId3"/>
    <p:sldLayoutId id="2147483744" r:id="rId4"/>
    <p:sldLayoutId id="2147483745" r:id="rId5"/>
    <p:sldLayoutId id="2147483746" r:id="rId6"/>
    <p:sldLayoutId id="2147483747" r:id="rId7"/>
    <p:sldLayoutId id="2147483748" r:id="rId8"/>
    <p:sldLayoutId id="2147483749" r:id="rId9"/>
    <p:sldLayoutId id="2147483750" r:id="rId10"/>
    <p:sldLayoutId id="214748375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jpeg"/><Relationship Id="rId5" Type="http://schemas.openxmlformats.org/officeDocument/2006/relationships/image" Target="../media/image5.jpeg"/><Relationship Id="rId4" Type="http://schemas.openxmlformats.org/officeDocument/2006/relationships/image" Target="../media/image4.jpe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jpeg"/><Relationship Id="rId5" Type="http://schemas.openxmlformats.org/officeDocument/2006/relationships/image" Target="../media/image11.png"/><Relationship Id="rId10" Type="http://schemas.openxmlformats.org/officeDocument/2006/relationships/image" Target="../media/image2.png"/><Relationship Id="rId4" Type="http://schemas.openxmlformats.org/officeDocument/2006/relationships/image" Target="../media/image10.png"/><Relationship Id="rId9" Type="http://schemas.openxmlformats.org/officeDocument/2006/relationships/image" Target="../media/image1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g"/><Relationship Id="rId2" Type="http://schemas.openxmlformats.org/officeDocument/2006/relationships/image" Target="../media/image16.gi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g"/><Relationship Id="rId2" Type="http://schemas.openxmlformats.org/officeDocument/2006/relationships/image" Target="../media/image16.gi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g"/><Relationship Id="rId2" Type="http://schemas.openxmlformats.org/officeDocument/2006/relationships/image" Target="../media/image16.gi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g"/><Relationship Id="rId2" Type="http://schemas.openxmlformats.org/officeDocument/2006/relationships/image" Target="../media/image16.gi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14.png"/><Relationship Id="rId2" Type="http://schemas.openxmlformats.org/officeDocument/2006/relationships/image" Target="../media/image20.gi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15.png"/><Relationship Id="rId4" Type="http://schemas.openxmlformats.org/officeDocument/2006/relationships/image" Target="../media/image2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20.gi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3.png"/><Relationship Id="rId4" Type="http://schemas.openxmlformats.org/officeDocument/2006/relationships/image" Target="../media/image2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20.gi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5.png"/><Relationship Id="rId4" Type="http://schemas.openxmlformats.org/officeDocument/2006/relationships/image" Target="../media/image2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14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jpg"/><Relationship Id="rId3" Type="http://schemas.openxmlformats.org/officeDocument/2006/relationships/image" Target="../media/image2.png"/><Relationship Id="rId7" Type="http://schemas.openxmlformats.org/officeDocument/2006/relationships/image" Target="../media/image8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5" Type="http://schemas.openxmlformats.org/officeDocument/2006/relationships/image" Target="../media/image12.jpeg"/><Relationship Id="rId4" Type="http://schemas.openxmlformats.org/officeDocument/2006/relationships/image" Target="../media/image11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jpg"/><Relationship Id="rId3" Type="http://schemas.openxmlformats.org/officeDocument/2006/relationships/image" Target="../media/image2.png"/><Relationship Id="rId7" Type="http://schemas.openxmlformats.org/officeDocument/2006/relationships/image" Target="../media/image8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5" Type="http://schemas.openxmlformats.org/officeDocument/2006/relationships/image" Target="../media/image12.jpeg"/><Relationship Id="rId4" Type="http://schemas.openxmlformats.org/officeDocument/2006/relationships/image" Target="../media/image1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25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11">
            <a:extLst>
              <a:ext uri="{FF2B5EF4-FFF2-40B4-BE49-F238E27FC236}">
                <a16:creationId xmlns:a16="http://schemas.microsoft.com/office/drawing/2014/main" id="{5DCB5928-DC7D-4612-9922-441966E156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4" name="Freeform: Shape 13">
            <a:extLst>
              <a:ext uri="{FF2B5EF4-FFF2-40B4-BE49-F238E27FC236}">
                <a16:creationId xmlns:a16="http://schemas.microsoft.com/office/drawing/2014/main" id="{682C1161-1736-45EC-99B7-33F3CAE9D5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959047" cy="6858000"/>
          </a:xfrm>
          <a:custGeom>
            <a:avLst/>
            <a:gdLst>
              <a:gd name="connsiteX0" fmla="*/ 0 w 4959047"/>
              <a:gd name="connsiteY0" fmla="*/ 0 h 6858000"/>
              <a:gd name="connsiteX1" fmla="*/ 4110127 w 4959047"/>
              <a:gd name="connsiteY1" fmla="*/ 0 h 6858000"/>
              <a:gd name="connsiteX2" fmla="*/ 4179024 w 4959047"/>
              <a:gd name="connsiteY2" fmla="*/ 123368 h 6858000"/>
              <a:gd name="connsiteX3" fmla="*/ 4959047 w 4959047"/>
              <a:gd name="connsiteY3" fmla="*/ 3429000 h 6858000"/>
              <a:gd name="connsiteX4" fmla="*/ 4179024 w 4959047"/>
              <a:gd name="connsiteY4" fmla="*/ 6734633 h 6858000"/>
              <a:gd name="connsiteX5" fmla="*/ 4110127 w 4959047"/>
              <a:gd name="connsiteY5" fmla="*/ 6858000 h 6858000"/>
              <a:gd name="connsiteX6" fmla="*/ 0 w 495904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959047" h="6858000">
                <a:moveTo>
                  <a:pt x="0" y="0"/>
                </a:moveTo>
                <a:lnTo>
                  <a:pt x="4110127" y="0"/>
                </a:lnTo>
                <a:lnTo>
                  <a:pt x="4179024" y="123368"/>
                </a:lnTo>
                <a:cubicBezTo>
                  <a:pt x="4668929" y="1045156"/>
                  <a:pt x="4959047" y="2189404"/>
                  <a:pt x="4959047" y="3429000"/>
                </a:cubicBezTo>
                <a:cubicBezTo>
                  <a:pt x="4959047" y="4668597"/>
                  <a:pt x="4668929" y="5812845"/>
                  <a:pt x="4179024" y="6734633"/>
                </a:cubicBezTo>
                <a:lnTo>
                  <a:pt x="4110127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6E6E6"/>
            </a:solidFill>
          </a:ln>
          <a:effectLst>
            <a:outerShdw blurRad="762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6" name="Freeform: Shape 15">
            <a:extLst>
              <a:ext uri="{FF2B5EF4-FFF2-40B4-BE49-F238E27FC236}">
                <a16:creationId xmlns:a16="http://schemas.microsoft.com/office/drawing/2014/main" id="{84D4DDB8-B68F-45B0-9F62-C4279996F6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948887" cy="6858000"/>
          </a:xfrm>
          <a:custGeom>
            <a:avLst/>
            <a:gdLst>
              <a:gd name="connsiteX0" fmla="*/ 0 w 4948887"/>
              <a:gd name="connsiteY0" fmla="*/ 0 h 6858000"/>
              <a:gd name="connsiteX1" fmla="*/ 4099967 w 4948887"/>
              <a:gd name="connsiteY1" fmla="*/ 0 h 6858000"/>
              <a:gd name="connsiteX2" fmla="*/ 4168864 w 4948887"/>
              <a:gd name="connsiteY2" fmla="*/ 123368 h 6858000"/>
              <a:gd name="connsiteX3" fmla="*/ 4948887 w 4948887"/>
              <a:gd name="connsiteY3" fmla="*/ 3429000 h 6858000"/>
              <a:gd name="connsiteX4" fmla="*/ 4168864 w 4948887"/>
              <a:gd name="connsiteY4" fmla="*/ 6734633 h 6858000"/>
              <a:gd name="connsiteX5" fmla="*/ 4099967 w 4948887"/>
              <a:gd name="connsiteY5" fmla="*/ 6858000 h 6858000"/>
              <a:gd name="connsiteX6" fmla="*/ 0 w 494888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948887" h="6858000">
                <a:moveTo>
                  <a:pt x="0" y="0"/>
                </a:moveTo>
                <a:lnTo>
                  <a:pt x="4099967" y="0"/>
                </a:lnTo>
                <a:lnTo>
                  <a:pt x="4168864" y="123368"/>
                </a:lnTo>
                <a:cubicBezTo>
                  <a:pt x="4658769" y="1045156"/>
                  <a:pt x="4948887" y="2189404"/>
                  <a:pt x="4948887" y="3429000"/>
                </a:cubicBezTo>
                <a:cubicBezTo>
                  <a:pt x="4948887" y="4668597"/>
                  <a:pt x="4658769" y="5812845"/>
                  <a:pt x="4168864" y="6734633"/>
                </a:cubicBezTo>
                <a:lnTo>
                  <a:pt x="4099967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FE4C4BEF-5008-57C3-08CE-63B045061E7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7981" y="1122363"/>
            <a:ext cx="4023360" cy="3204134"/>
          </a:xfrm>
        </p:spPr>
        <p:txBody>
          <a:bodyPr anchor="b">
            <a:normAutofit/>
          </a:bodyPr>
          <a:lstStyle/>
          <a:p>
            <a:pPr>
              <a:lnSpc>
                <a:spcPct val="150000"/>
              </a:lnSpc>
            </a:pPr>
            <a:br>
              <a:rPr lang="it-IT" sz="4000" i="1" dirty="0">
                <a:latin typeface="Kermit Extrabold" panose="020F0502020204030204" pitchFamily="34" charset="0"/>
              </a:rPr>
            </a:br>
            <a:r>
              <a:rPr lang="it-IT" sz="5400" dirty="0">
                <a:latin typeface="Kermit Extrabold" panose="020F0502020204030204" pitchFamily="34" charset="0"/>
              </a:rPr>
              <a:t>🤖</a:t>
            </a:r>
            <a:br>
              <a:rPr lang="it-IT" sz="4000" dirty="0">
                <a:latin typeface="Kermit Extrabold" panose="020F0502020204030204" pitchFamily="34" charset="0"/>
              </a:rPr>
            </a:br>
            <a:r>
              <a:rPr lang="it-IT" sz="4000" i="1" dirty="0">
                <a:solidFill>
                  <a:srgbClr val="D53774"/>
                </a:solidFill>
                <a:latin typeface="Kermit Extrabold" panose="020F0502020204030204" pitchFamily="34" charset="0"/>
              </a:rPr>
              <a:t>Thesis Coach 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60C9CF80-B01A-BE77-80EF-CD7BD42420D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7981" y="4872922"/>
            <a:ext cx="3933306" cy="1208141"/>
          </a:xfrm>
        </p:spPr>
        <p:txBody>
          <a:bodyPr>
            <a:normAutofit/>
          </a:bodyPr>
          <a:lstStyle/>
          <a:p>
            <a:pPr algn="l"/>
            <a:r>
              <a:rPr lang="it-IT" sz="1600" dirty="0">
                <a:latin typeface="+mj-lt"/>
                <a:ea typeface="Calibri" panose="020F0502020204030204" pitchFamily="34" charset="0"/>
                <a:cs typeface="Arial" panose="020B0604020202020204" pitchFamily="34" charset="0"/>
              </a:rPr>
              <a:t>Progetto di Francesca Ciccarese</a:t>
            </a:r>
          </a:p>
          <a:p>
            <a:pPr algn="l"/>
            <a:r>
              <a:rPr lang="it-IT" sz="1600" dirty="0">
                <a:latin typeface="+mj-lt"/>
                <a:ea typeface="Calibri" panose="020F0502020204030204" pitchFamily="34" charset="0"/>
                <a:cs typeface="Arial" panose="020B0604020202020204" pitchFamily="34" charset="0"/>
              </a:rPr>
              <a:t>per l’esame finale di </a:t>
            </a:r>
            <a:r>
              <a:rPr lang="it-IT" sz="1600" i="1" dirty="0">
                <a:latin typeface="+mj-lt"/>
                <a:ea typeface="Calibri" panose="020F0502020204030204" pitchFamily="34" charset="0"/>
                <a:cs typeface="Arial" panose="020B0604020202020204" pitchFamily="34" charset="0"/>
              </a:rPr>
              <a:t>Technologies for Advanced Programming</a:t>
            </a:r>
            <a:endParaRPr lang="it-IT" sz="1600" dirty="0">
              <a:latin typeface="+mj-lt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10" name="Rectangle 17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5" name="Rectangle 19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402336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7" name="Immagine 6">
            <a:extLst>
              <a:ext uri="{FF2B5EF4-FFF2-40B4-BE49-F238E27FC236}">
                <a16:creationId xmlns:a16="http://schemas.microsoft.com/office/drawing/2014/main" id="{7FEE18B8-2D21-BB64-4A9D-B43F3704A64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91084" y="625684"/>
            <a:ext cx="5455380" cy="5455380"/>
          </a:xfrm>
          <a:prstGeom prst="rect">
            <a:avLst/>
          </a:prstGeom>
        </p:spPr>
      </p:pic>
      <p:pic>
        <p:nvPicPr>
          <p:cNvPr id="17" name="Immagine 16">
            <a:extLst>
              <a:ext uri="{FF2B5EF4-FFF2-40B4-BE49-F238E27FC236}">
                <a16:creationId xmlns:a16="http://schemas.microsoft.com/office/drawing/2014/main" id="{D41A8E92-E553-3E03-D12D-1A1388E967BC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958" b="8579"/>
          <a:stretch>
            <a:fillRect/>
          </a:stretch>
        </p:blipFill>
        <p:spPr>
          <a:xfrm>
            <a:off x="10294592" y="6159640"/>
            <a:ext cx="1902488" cy="6983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10660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7B040E-739F-5CF4-B28F-5651CAA4F6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93B6C30-B4BA-0FA5-F355-14E3716A48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0512" y="422788"/>
            <a:ext cx="10515600" cy="839422"/>
          </a:xfrm>
        </p:spPr>
        <p:txBody>
          <a:bodyPr>
            <a:normAutofit/>
          </a:bodyPr>
          <a:lstStyle/>
          <a:p>
            <a:r>
              <a:rPr lang="it-IT" sz="3600" i="1" dirty="0">
                <a:solidFill>
                  <a:srgbClr val="E16D53"/>
                </a:solidFill>
                <a:latin typeface="Kermit Extrabold" panose="020F0502020204030204" pitchFamily="34" charset="0"/>
              </a:rPr>
              <a:t>Perché?</a:t>
            </a:r>
            <a:endParaRPr lang="it-IT" sz="3600" u="sng" dirty="0">
              <a:solidFill>
                <a:srgbClr val="E16D53"/>
              </a:solidFill>
            </a:endParaRPr>
          </a:p>
        </p:txBody>
      </p:sp>
      <p:pic>
        <p:nvPicPr>
          <p:cNvPr id="40" name="Immagine 39">
            <a:extLst>
              <a:ext uri="{FF2B5EF4-FFF2-40B4-BE49-F238E27FC236}">
                <a16:creationId xmlns:a16="http://schemas.microsoft.com/office/drawing/2014/main" id="{3AB0655B-C6F5-BE6B-F544-59C241D46977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958" b="8579"/>
          <a:stretch>
            <a:fillRect/>
          </a:stretch>
        </p:blipFill>
        <p:spPr>
          <a:xfrm>
            <a:off x="10294592" y="6159640"/>
            <a:ext cx="1902488" cy="698360"/>
          </a:xfrm>
          <a:prstGeom prst="rect">
            <a:avLst/>
          </a:prstGeom>
        </p:spPr>
      </p:pic>
      <p:pic>
        <p:nvPicPr>
          <p:cNvPr id="11266" name="Picture 2">
            <a:extLst>
              <a:ext uri="{FF2B5EF4-FFF2-40B4-BE49-F238E27FC236}">
                <a16:creationId xmlns:a16="http://schemas.microsoft.com/office/drawing/2014/main" id="{B4E514DA-9F9C-F9F8-0124-5D0B8702CE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68435" y="2179031"/>
            <a:ext cx="2329282" cy="23337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268" name="Picture 4">
            <a:extLst>
              <a:ext uri="{FF2B5EF4-FFF2-40B4-BE49-F238E27FC236}">
                <a16:creationId xmlns:a16="http://schemas.microsoft.com/office/drawing/2014/main" id="{5B852034-6678-E837-9D72-5398B442FD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8655" y="4166419"/>
            <a:ext cx="2152651" cy="21478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270" name="Picture 6">
            <a:extLst>
              <a:ext uri="{FF2B5EF4-FFF2-40B4-BE49-F238E27FC236}">
                <a16:creationId xmlns:a16="http://schemas.microsoft.com/office/drawing/2014/main" id="{4C89C103-2959-2A50-18B2-AEBB577080B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6204" y="1868129"/>
            <a:ext cx="2397555" cy="21855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272" name="Picture 8">
            <a:extLst>
              <a:ext uri="{FF2B5EF4-FFF2-40B4-BE49-F238E27FC236}">
                <a16:creationId xmlns:a16="http://schemas.microsoft.com/office/drawing/2014/main" id="{15D9DBA7-85C6-D526-5CE5-4BF6A82F90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44830" y="2262801"/>
            <a:ext cx="2501006" cy="19036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274" name="Picture 10" descr="Laptop Png PNGs for Free Download">
            <a:extLst>
              <a:ext uri="{FF2B5EF4-FFF2-40B4-BE49-F238E27FC236}">
                <a16:creationId xmlns:a16="http://schemas.microsoft.com/office/drawing/2014/main" id="{6565CFF3-CD3E-527E-AE51-38998DED0E2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71306" y="4408133"/>
            <a:ext cx="3674801" cy="24498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asellaDiTesto 2">
            <a:extLst>
              <a:ext uri="{FF2B5EF4-FFF2-40B4-BE49-F238E27FC236}">
                <a16:creationId xmlns:a16="http://schemas.microsoft.com/office/drawing/2014/main" id="{36FAEB72-C623-AC20-FEDF-0F0CD08D78F0}"/>
              </a:ext>
            </a:extLst>
          </p:cNvPr>
          <p:cNvSpPr txBox="1"/>
          <p:nvPr/>
        </p:nvSpPr>
        <p:spPr>
          <a:xfrm>
            <a:off x="4582218" y="5094457"/>
            <a:ext cx="1145116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800" b="1" dirty="0"/>
              <a:t>TESI</a:t>
            </a:r>
            <a:endParaRPr lang="it-IT" sz="1400" b="1" dirty="0"/>
          </a:p>
          <a:p>
            <a:endParaRPr lang="it-IT" b="1" i="1" dirty="0">
              <a:solidFill>
                <a:srgbClr val="D53774"/>
              </a:solidFill>
            </a:endParaRPr>
          </a:p>
          <a:p>
            <a:endParaRPr lang="it-IT" b="1" i="1" dirty="0">
              <a:solidFill>
                <a:srgbClr val="D53774"/>
              </a:solidFill>
            </a:endParaRPr>
          </a:p>
        </p:txBody>
      </p:sp>
      <p:cxnSp>
        <p:nvCxnSpPr>
          <p:cNvPr id="5" name="Connettore 2 4">
            <a:extLst>
              <a:ext uri="{FF2B5EF4-FFF2-40B4-BE49-F238E27FC236}">
                <a16:creationId xmlns:a16="http://schemas.microsoft.com/office/drawing/2014/main" id="{D9BD2C28-CFA4-27FE-262B-BE89702610D2}"/>
              </a:ext>
            </a:extLst>
          </p:cNvPr>
          <p:cNvCxnSpPr/>
          <p:nvPr/>
        </p:nvCxnSpPr>
        <p:spPr>
          <a:xfrm flipV="1">
            <a:off x="3489434" y="1608083"/>
            <a:ext cx="735725" cy="260046"/>
          </a:xfrm>
          <a:prstGeom prst="straightConnector1">
            <a:avLst/>
          </a:prstGeom>
          <a:ln w="28575">
            <a:solidFill>
              <a:srgbClr val="E16D5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7D1211D5-2CC5-D446-84B3-0209295D6BFF}"/>
              </a:ext>
            </a:extLst>
          </p:cNvPr>
          <p:cNvSpPr txBox="1"/>
          <p:nvPr/>
        </p:nvSpPr>
        <p:spPr>
          <a:xfrm>
            <a:off x="4108765" y="1212789"/>
            <a:ext cx="114511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400" b="1" dirty="0">
                <a:solidFill>
                  <a:srgbClr val="E16D53"/>
                </a:solidFill>
              </a:rPr>
              <a:t>amica</a:t>
            </a:r>
            <a:endParaRPr lang="it-IT" sz="1400" b="1" dirty="0">
              <a:solidFill>
                <a:srgbClr val="E16D53"/>
              </a:solidFill>
            </a:endParaRPr>
          </a:p>
          <a:p>
            <a:endParaRPr lang="it-IT" b="1" i="1" dirty="0">
              <a:solidFill>
                <a:srgbClr val="D53774"/>
              </a:solidFill>
            </a:endParaRPr>
          </a:p>
          <a:p>
            <a:endParaRPr lang="it-IT" b="1" i="1" dirty="0">
              <a:solidFill>
                <a:srgbClr val="D53774"/>
              </a:solidFill>
            </a:endParaRPr>
          </a:p>
        </p:txBody>
      </p:sp>
      <p:cxnSp>
        <p:nvCxnSpPr>
          <p:cNvPr id="7" name="Connettore 2 6">
            <a:extLst>
              <a:ext uri="{FF2B5EF4-FFF2-40B4-BE49-F238E27FC236}">
                <a16:creationId xmlns:a16="http://schemas.microsoft.com/office/drawing/2014/main" id="{7546A415-F81C-E049-2E1C-B59A1DE0B6D7}"/>
              </a:ext>
            </a:extLst>
          </p:cNvPr>
          <p:cNvCxnSpPr>
            <a:cxnSpLocks/>
          </p:cNvCxnSpPr>
          <p:nvPr/>
        </p:nvCxnSpPr>
        <p:spPr>
          <a:xfrm flipV="1">
            <a:off x="10407165" y="3898730"/>
            <a:ext cx="0" cy="735942"/>
          </a:xfrm>
          <a:prstGeom prst="straightConnector1">
            <a:avLst/>
          </a:prstGeom>
          <a:ln w="28575">
            <a:solidFill>
              <a:srgbClr val="E16D5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86D7FB67-8D37-2B7D-5DE9-9097B3912EDC}"/>
              </a:ext>
            </a:extLst>
          </p:cNvPr>
          <p:cNvSpPr txBox="1"/>
          <p:nvPr/>
        </p:nvSpPr>
        <p:spPr>
          <a:xfrm>
            <a:off x="9834607" y="4675724"/>
            <a:ext cx="114511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400" b="1" dirty="0">
                <a:solidFill>
                  <a:srgbClr val="E16D53"/>
                </a:solidFill>
              </a:rPr>
              <a:t>io</a:t>
            </a:r>
            <a:endParaRPr lang="it-IT" sz="1400" b="1" dirty="0">
              <a:solidFill>
                <a:srgbClr val="E16D53"/>
              </a:solidFill>
            </a:endParaRPr>
          </a:p>
          <a:p>
            <a:endParaRPr lang="it-IT" b="1" i="1" dirty="0">
              <a:solidFill>
                <a:srgbClr val="D53774"/>
              </a:solidFill>
            </a:endParaRPr>
          </a:p>
          <a:p>
            <a:endParaRPr lang="it-IT" b="1" i="1" dirty="0">
              <a:solidFill>
                <a:srgbClr val="D53774"/>
              </a:solidFill>
            </a:endParaRPr>
          </a:p>
        </p:txBody>
      </p:sp>
      <p:sp>
        <p:nvSpPr>
          <p:cNvPr id="12" name="CasellaDiTesto 11">
            <a:extLst>
              <a:ext uri="{FF2B5EF4-FFF2-40B4-BE49-F238E27FC236}">
                <a16:creationId xmlns:a16="http://schemas.microsoft.com/office/drawing/2014/main" id="{3EFC3967-A2FE-3545-39D1-EABD772FE561}"/>
              </a:ext>
            </a:extLst>
          </p:cNvPr>
          <p:cNvSpPr txBox="1"/>
          <p:nvPr/>
        </p:nvSpPr>
        <p:spPr>
          <a:xfrm>
            <a:off x="9834607" y="1459113"/>
            <a:ext cx="1519305" cy="10464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4400" dirty="0">
                <a:solidFill>
                  <a:srgbClr val="D53774"/>
                </a:solidFill>
              </a:rPr>
              <a:t>💡</a:t>
            </a:r>
          </a:p>
          <a:p>
            <a:endParaRPr lang="it-IT" b="1" i="1" dirty="0">
              <a:solidFill>
                <a:srgbClr val="D53774"/>
              </a:solidFill>
            </a:endParaRPr>
          </a:p>
        </p:txBody>
      </p:sp>
      <p:sp>
        <p:nvSpPr>
          <p:cNvPr id="13" name="CasellaDiTesto 12">
            <a:extLst>
              <a:ext uri="{FF2B5EF4-FFF2-40B4-BE49-F238E27FC236}">
                <a16:creationId xmlns:a16="http://schemas.microsoft.com/office/drawing/2014/main" id="{16E9FD51-0C03-587C-A563-A58F3A579AF7}"/>
              </a:ext>
            </a:extLst>
          </p:cNvPr>
          <p:cNvSpPr txBox="1"/>
          <p:nvPr/>
        </p:nvSpPr>
        <p:spPr>
          <a:xfrm>
            <a:off x="6223042" y="2988048"/>
            <a:ext cx="225359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000" b="1" dirty="0"/>
              <a:t>« aspetta »</a:t>
            </a:r>
          </a:p>
          <a:p>
            <a:endParaRPr lang="it-IT" b="1" i="1" dirty="0">
              <a:solidFill>
                <a:srgbClr val="D53774"/>
              </a:solidFill>
            </a:endParaRPr>
          </a:p>
          <a:p>
            <a:endParaRPr lang="it-IT" b="1" i="1" dirty="0">
              <a:solidFill>
                <a:srgbClr val="D53774"/>
              </a:solidFill>
            </a:endParaRPr>
          </a:p>
        </p:txBody>
      </p:sp>
      <p:sp>
        <p:nvSpPr>
          <p:cNvPr id="14" name="CasellaDiTesto 13">
            <a:extLst>
              <a:ext uri="{FF2B5EF4-FFF2-40B4-BE49-F238E27FC236}">
                <a16:creationId xmlns:a16="http://schemas.microsoft.com/office/drawing/2014/main" id="{F415E9E4-F787-D43C-01D2-BB7391E9212F}"/>
              </a:ext>
            </a:extLst>
          </p:cNvPr>
          <p:cNvSpPr txBox="1"/>
          <p:nvPr/>
        </p:nvSpPr>
        <p:spPr>
          <a:xfrm rot="20664647">
            <a:off x="6546107" y="2262801"/>
            <a:ext cx="1145116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4400" b="1" dirty="0">
                <a:solidFill>
                  <a:srgbClr val="E16D53"/>
                </a:solidFill>
              </a:rPr>
              <a:t>☝️</a:t>
            </a:r>
          </a:p>
          <a:p>
            <a:endParaRPr lang="it-IT" b="1" i="1" dirty="0">
              <a:solidFill>
                <a:srgbClr val="D53774"/>
              </a:solidFill>
            </a:endParaRPr>
          </a:p>
          <a:p>
            <a:endParaRPr lang="it-IT" b="1" i="1" dirty="0">
              <a:solidFill>
                <a:srgbClr val="D5377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569716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2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12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12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12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2000"/>
                            </p:stCondLst>
                            <p:childTnLst>
                              <p:par>
                                <p:cTn id="2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2500"/>
                            </p:stCondLst>
                            <p:childTnLst>
                              <p:par>
                                <p:cTn id="2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3000"/>
                            </p:stCondLst>
                            <p:childTnLst>
                              <p:par>
                                <p:cTn id="32" presetID="10" presetClass="entr" presetSubtype="0" fill="hold" nodeType="after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12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6500"/>
                            </p:stCondLst>
                            <p:childTnLst>
                              <p:par>
                                <p:cTn id="3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7000"/>
                            </p:stCondLst>
                            <p:childTnLst>
                              <p:par>
                                <p:cTn id="4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500"/>
                            </p:stCondLst>
                            <p:childTnLst>
                              <p:par>
                                <p:cTn id="49" presetID="10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2000"/>
                            </p:stCondLst>
                            <p:childTnLst>
                              <p:par>
                                <p:cTn id="5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6" grpId="0"/>
      <p:bldP spid="11" grpId="0"/>
      <p:bldP spid="12" grpId="0"/>
      <p:bldP spid="13" grpId="0"/>
      <p:bldP spid="1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D1CD34BC-4244-6EDE-F745-BC8493EBA0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680" y="1"/>
            <a:ext cx="10515600" cy="839422"/>
          </a:xfrm>
        </p:spPr>
        <p:txBody>
          <a:bodyPr>
            <a:normAutofit/>
          </a:bodyPr>
          <a:lstStyle/>
          <a:p>
            <a:r>
              <a:rPr lang="it-IT" sz="3600" i="1" dirty="0">
                <a:solidFill>
                  <a:srgbClr val="E16D53"/>
                </a:solidFill>
                <a:latin typeface="Kermit Extrabold" panose="020F0502020204030204" pitchFamily="34" charset="0"/>
              </a:rPr>
              <a:t>Pipeline</a:t>
            </a:r>
            <a:endParaRPr lang="it-IT" sz="3600" u="sng" dirty="0">
              <a:solidFill>
                <a:srgbClr val="E16D53"/>
              </a:solidFill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40541FA9-CA61-67DA-F0C1-E48853C0ABA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3156" y="1090950"/>
            <a:ext cx="895171" cy="8951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Apache Spark è un'applicazione di Apache Open Source sviluppata da Solix  Technologies, Inc.">
            <a:extLst>
              <a:ext uri="{FF2B5EF4-FFF2-40B4-BE49-F238E27FC236}">
                <a16:creationId xmlns:a16="http://schemas.microsoft.com/office/drawing/2014/main" id="{CD66CB64-4E50-D9E8-B8E2-D38D6163AE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19832" y="3724904"/>
            <a:ext cx="1909201" cy="9911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Icona di Apache kafka logo">
            <a:extLst>
              <a:ext uri="{FF2B5EF4-FFF2-40B4-BE49-F238E27FC236}">
                <a16:creationId xmlns:a16="http://schemas.microsoft.com/office/drawing/2014/main" id="{F4AF6E62-01A6-C93F-DB4A-A78A2CBA0FA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57553" y="1057470"/>
            <a:ext cx="1982287" cy="9911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12" descr="The Best Way to Embed Elasticsearch">
            <a:extLst>
              <a:ext uri="{FF2B5EF4-FFF2-40B4-BE49-F238E27FC236}">
                <a16:creationId xmlns:a16="http://schemas.microsoft.com/office/drawing/2014/main" id="{489DBC3E-B701-FD86-EF11-B1D736F21CA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28102" y="3410724"/>
            <a:ext cx="2429631" cy="16195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8" name="Picture 14" descr="A cosa serve Kibana? - Flowygo">
            <a:extLst>
              <a:ext uri="{FF2B5EF4-FFF2-40B4-BE49-F238E27FC236}">
                <a16:creationId xmlns:a16="http://schemas.microsoft.com/office/drawing/2014/main" id="{F6E7EEAE-CC2A-E90F-700B-F8522A8B60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86894" y="913423"/>
            <a:ext cx="1791387" cy="11351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8" name="Connettore 2 7">
            <a:extLst>
              <a:ext uri="{FF2B5EF4-FFF2-40B4-BE49-F238E27FC236}">
                <a16:creationId xmlns:a16="http://schemas.microsoft.com/office/drawing/2014/main" id="{F703487A-7090-919F-DBDC-80946E77112E}"/>
              </a:ext>
            </a:extLst>
          </p:cNvPr>
          <p:cNvCxnSpPr>
            <a:cxnSpLocks/>
          </p:cNvCxnSpPr>
          <p:nvPr/>
        </p:nvCxnSpPr>
        <p:spPr>
          <a:xfrm>
            <a:off x="2406037" y="1573812"/>
            <a:ext cx="1462532" cy="0"/>
          </a:xfrm>
          <a:prstGeom prst="straightConnector1">
            <a:avLst/>
          </a:prstGeom>
          <a:ln w="38100" cap="flat" cmpd="sng" algn="ctr">
            <a:solidFill>
              <a:srgbClr val="D53774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9" name="Connettore 2 8">
            <a:extLst>
              <a:ext uri="{FF2B5EF4-FFF2-40B4-BE49-F238E27FC236}">
                <a16:creationId xmlns:a16="http://schemas.microsoft.com/office/drawing/2014/main" id="{3427FE0D-83BB-7C6D-1613-3872FE41DDC4}"/>
              </a:ext>
            </a:extLst>
          </p:cNvPr>
          <p:cNvCxnSpPr>
            <a:cxnSpLocks/>
          </p:cNvCxnSpPr>
          <p:nvPr/>
        </p:nvCxnSpPr>
        <p:spPr>
          <a:xfrm>
            <a:off x="5674432" y="2149117"/>
            <a:ext cx="0" cy="1444901"/>
          </a:xfrm>
          <a:prstGeom prst="straightConnector1">
            <a:avLst/>
          </a:prstGeom>
          <a:ln w="38100" cap="flat" cmpd="sng" algn="ctr">
            <a:solidFill>
              <a:srgbClr val="D53774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pic>
        <p:nvPicPr>
          <p:cNvPr id="25" name="Picture 2">
            <a:extLst>
              <a:ext uri="{FF2B5EF4-FFF2-40B4-BE49-F238E27FC236}">
                <a16:creationId xmlns:a16="http://schemas.microsoft.com/office/drawing/2014/main" id="{45566D6F-AD51-AC91-8FB3-3DAABA62B3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0849" y="3899378"/>
            <a:ext cx="895171" cy="8951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6" name="Bolla: nuvola 25">
            <a:extLst>
              <a:ext uri="{FF2B5EF4-FFF2-40B4-BE49-F238E27FC236}">
                <a16:creationId xmlns:a16="http://schemas.microsoft.com/office/drawing/2014/main" id="{5A60E3CF-8569-0479-515E-6EC77DB4EE11}"/>
              </a:ext>
            </a:extLst>
          </p:cNvPr>
          <p:cNvSpPr/>
          <p:nvPr/>
        </p:nvSpPr>
        <p:spPr>
          <a:xfrm>
            <a:off x="4508298" y="5270308"/>
            <a:ext cx="3426662" cy="1406009"/>
          </a:xfrm>
          <a:prstGeom prst="cloudCallout">
            <a:avLst>
              <a:gd name="adj1" fmla="val -13260"/>
              <a:gd name="adj2" fmla="val -80616"/>
            </a:avLst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pic>
        <p:nvPicPr>
          <p:cNvPr id="1040" name="Picture 16" descr="Open-source AI models that give you privacy back - Nextcloud">
            <a:extLst>
              <a:ext uri="{FF2B5EF4-FFF2-40B4-BE49-F238E27FC236}">
                <a16:creationId xmlns:a16="http://schemas.microsoft.com/office/drawing/2014/main" id="{9675E300-E740-8A14-C47A-D75DBA00925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53083" y="5633866"/>
            <a:ext cx="655864" cy="6766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2" name="Picture 18" descr="Finetune Llama 3.1 with Unsloth">
            <a:extLst>
              <a:ext uri="{FF2B5EF4-FFF2-40B4-BE49-F238E27FC236}">
                <a16:creationId xmlns:a16="http://schemas.microsoft.com/office/drawing/2014/main" id="{F44453A2-8E02-561D-F55C-C2832B26D1C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109" t="11582" r="7244" b="32373"/>
          <a:stretch>
            <a:fillRect/>
          </a:stretch>
        </p:blipFill>
        <p:spPr bwMode="auto">
          <a:xfrm>
            <a:off x="6015541" y="5633866"/>
            <a:ext cx="1072717" cy="4726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32" name="Connettore 2 31">
            <a:extLst>
              <a:ext uri="{FF2B5EF4-FFF2-40B4-BE49-F238E27FC236}">
                <a16:creationId xmlns:a16="http://schemas.microsoft.com/office/drawing/2014/main" id="{0F472918-2C21-C3B7-3D20-CAA627F68D79}"/>
              </a:ext>
            </a:extLst>
          </p:cNvPr>
          <p:cNvCxnSpPr>
            <a:cxnSpLocks/>
          </p:cNvCxnSpPr>
          <p:nvPr/>
        </p:nvCxnSpPr>
        <p:spPr>
          <a:xfrm flipH="1">
            <a:off x="2536522" y="4357943"/>
            <a:ext cx="1556871" cy="0"/>
          </a:xfrm>
          <a:prstGeom prst="straightConnector1">
            <a:avLst/>
          </a:prstGeom>
          <a:ln w="38100" cap="flat" cmpd="sng" algn="ctr">
            <a:solidFill>
              <a:srgbClr val="D53774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4" name="Connettore 2 33">
            <a:extLst>
              <a:ext uri="{FF2B5EF4-FFF2-40B4-BE49-F238E27FC236}">
                <a16:creationId xmlns:a16="http://schemas.microsoft.com/office/drawing/2014/main" id="{9FEF284B-240F-32C3-79F1-EB28046EE2EC}"/>
              </a:ext>
            </a:extLst>
          </p:cNvPr>
          <p:cNvCxnSpPr>
            <a:cxnSpLocks/>
          </p:cNvCxnSpPr>
          <p:nvPr/>
        </p:nvCxnSpPr>
        <p:spPr>
          <a:xfrm>
            <a:off x="7203694" y="4357943"/>
            <a:ext cx="1462532" cy="0"/>
          </a:xfrm>
          <a:prstGeom prst="straightConnector1">
            <a:avLst/>
          </a:prstGeom>
          <a:ln w="38100" cap="flat" cmpd="sng" algn="ctr">
            <a:solidFill>
              <a:srgbClr val="D53774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6" name="Connettore 2 35">
            <a:extLst>
              <a:ext uri="{FF2B5EF4-FFF2-40B4-BE49-F238E27FC236}">
                <a16:creationId xmlns:a16="http://schemas.microsoft.com/office/drawing/2014/main" id="{BEB23FB4-72D4-5332-278A-EE56498813C9}"/>
              </a:ext>
            </a:extLst>
          </p:cNvPr>
          <p:cNvCxnSpPr>
            <a:cxnSpLocks/>
          </p:cNvCxnSpPr>
          <p:nvPr/>
        </p:nvCxnSpPr>
        <p:spPr>
          <a:xfrm flipV="1">
            <a:off x="10242916" y="2242688"/>
            <a:ext cx="0" cy="1186312"/>
          </a:xfrm>
          <a:prstGeom prst="straightConnector1">
            <a:avLst/>
          </a:prstGeom>
          <a:ln w="38100" cap="flat" cmpd="sng" algn="ctr">
            <a:solidFill>
              <a:srgbClr val="D53774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pic>
        <p:nvPicPr>
          <p:cNvPr id="1044" name="Picture 20" descr="Python (programming language) - Wikipedia">
            <a:extLst>
              <a:ext uri="{FF2B5EF4-FFF2-40B4-BE49-F238E27FC236}">
                <a16:creationId xmlns:a16="http://schemas.microsoft.com/office/drawing/2014/main" id="{7E695393-686F-AA9D-247F-760E7C6CE7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3678" y="1730294"/>
            <a:ext cx="507354" cy="507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0" name="Immagine 39">
            <a:extLst>
              <a:ext uri="{FF2B5EF4-FFF2-40B4-BE49-F238E27FC236}">
                <a16:creationId xmlns:a16="http://schemas.microsoft.com/office/drawing/2014/main" id="{BADB3263-0FCA-D4CB-0DCA-131B95F26A21}"/>
              </a:ext>
            </a:extLst>
          </p:cNvPr>
          <p:cNvPicPr>
            <a:picLocks noChangeAspect="1"/>
          </p:cNvPicPr>
          <p:nvPr/>
        </p:nvPicPr>
        <p:blipFill>
          <a:blip r:embed="rId10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958" b="8579"/>
          <a:stretch>
            <a:fillRect/>
          </a:stretch>
        </p:blipFill>
        <p:spPr>
          <a:xfrm>
            <a:off x="10294592" y="6159640"/>
            <a:ext cx="1902488" cy="698360"/>
          </a:xfrm>
          <a:prstGeom prst="rect">
            <a:avLst/>
          </a:prstGeom>
        </p:spPr>
      </p:pic>
      <p:pic>
        <p:nvPicPr>
          <p:cNvPr id="41" name="Picture 12" descr="The Best Way to Embed Elasticsearch">
            <a:extLst>
              <a:ext uri="{FF2B5EF4-FFF2-40B4-BE49-F238E27FC236}">
                <a16:creationId xmlns:a16="http://schemas.microsoft.com/office/drawing/2014/main" id="{B6DE689A-BE89-BEB8-66A0-DF966C7800C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28100" y="3429000"/>
            <a:ext cx="2429631" cy="16195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549967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FE6B88-7AF6-6311-417B-1585E2BDC7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Eating Cat GIFs | Tenor">
            <a:extLst>
              <a:ext uri="{FF2B5EF4-FFF2-40B4-BE49-F238E27FC236}">
                <a16:creationId xmlns:a16="http://schemas.microsoft.com/office/drawing/2014/main" id="{A663571B-7F58-7BA5-9634-866163CCBDF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38504" y="126338"/>
            <a:ext cx="1400816" cy="1872000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Immagine 4">
            <a:extLst>
              <a:ext uri="{FF2B5EF4-FFF2-40B4-BE49-F238E27FC236}">
                <a16:creationId xmlns:a16="http://schemas.microsoft.com/office/drawing/2014/main" id="{DE10928B-4369-D1E2-7952-6FB2996C1A0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758156"/>
            <a:ext cx="4064323" cy="3943899"/>
          </a:xfrm>
          <a:prstGeom prst="rect">
            <a:avLst/>
          </a:prstGeom>
        </p:spPr>
      </p:pic>
      <p:sp>
        <p:nvSpPr>
          <p:cNvPr id="6" name="CasellaDiTesto 5">
            <a:extLst>
              <a:ext uri="{FF2B5EF4-FFF2-40B4-BE49-F238E27FC236}">
                <a16:creationId xmlns:a16="http://schemas.microsoft.com/office/drawing/2014/main" id="{4FDE30BF-35AC-90E0-61F1-26FDDCFF0B96}"/>
              </a:ext>
            </a:extLst>
          </p:cNvPr>
          <p:cNvSpPr txBox="1"/>
          <p:nvPr/>
        </p:nvSpPr>
        <p:spPr>
          <a:xfrm>
            <a:off x="5637659" y="2688938"/>
            <a:ext cx="4843528" cy="18774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3200" b="1" i="1" dirty="0">
                <a:solidFill>
                  <a:srgbClr val="D53774"/>
                </a:solidFill>
              </a:rPr>
              <a:t>/start </a:t>
            </a:r>
          </a:p>
          <a:p>
            <a:endParaRPr lang="it-IT" sz="2800" b="1" i="1" dirty="0">
              <a:solidFill>
                <a:srgbClr val="D53774"/>
              </a:solidFill>
            </a:endParaRPr>
          </a:p>
          <a:p>
            <a:r>
              <a:rPr lang="it-IT" sz="2000" i="1" dirty="0"/>
              <a:t>Messaggio introduttivo del bot</a:t>
            </a:r>
          </a:p>
          <a:p>
            <a:endParaRPr lang="it-IT" b="1" i="1" dirty="0">
              <a:solidFill>
                <a:srgbClr val="D53774"/>
              </a:solidFill>
            </a:endParaRPr>
          </a:p>
          <a:p>
            <a:endParaRPr lang="it-IT" b="1" i="1" dirty="0">
              <a:solidFill>
                <a:srgbClr val="D53774"/>
              </a:solidFill>
            </a:endParaRPr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FA7A192A-00B9-0346-26AF-669895AF1F2C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958" b="8579"/>
          <a:stretch>
            <a:fillRect/>
          </a:stretch>
        </p:blipFill>
        <p:spPr>
          <a:xfrm>
            <a:off x="10294592" y="6159640"/>
            <a:ext cx="1902488" cy="698360"/>
          </a:xfrm>
          <a:prstGeom prst="rect">
            <a:avLst/>
          </a:prstGeom>
        </p:spPr>
      </p:pic>
      <p:sp>
        <p:nvSpPr>
          <p:cNvPr id="9" name="Titolo 1">
            <a:extLst>
              <a:ext uri="{FF2B5EF4-FFF2-40B4-BE49-F238E27FC236}">
                <a16:creationId xmlns:a16="http://schemas.microsoft.com/office/drawing/2014/main" id="{01404ABE-0E8E-A95C-9E1A-7F70CBA4DA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6400" y="273600"/>
            <a:ext cx="10515600" cy="1325563"/>
          </a:xfrm>
        </p:spPr>
        <p:txBody>
          <a:bodyPr/>
          <a:lstStyle/>
          <a:p>
            <a:r>
              <a:rPr lang="it-IT" i="1" dirty="0">
                <a:solidFill>
                  <a:srgbClr val="E16D53"/>
                </a:solidFill>
                <a:latin typeface="Kermit Extrabold" panose="020F0502020204030204" pitchFamily="34" charset="0"/>
              </a:rPr>
              <a:t>Data </a:t>
            </a:r>
            <a:r>
              <a:rPr lang="it-IT" i="1" dirty="0" err="1">
                <a:solidFill>
                  <a:srgbClr val="E16D53"/>
                </a:solidFill>
                <a:latin typeface="Kermit Extrabold" panose="020F0502020204030204" pitchFamily="34" charset="0"/>
              </a:rPr>
              <a:t>Ingestion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4993158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200"/>
                                        <p:tgtEl>
                                          <p:spTgt spid="20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56F2DE-E599-013C-5738-BE11EFD839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Eating Cat GIFs | Tenor">
            <a:extLst>
              <a:ext uri="{FF2B5EF4-FFF2-40B4-BE49-F238E27FC236}">
                <a16:creationId xmlns:a16="http://schemas.microsoft.com/office/drawing/2014/main" id="{A6C3F3A8-F9AA-7EEC-440D-9D8CB20B43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38504" y="126338"/>
            <a:ext cx="1400817" cy="1872000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CasellaDiTesto 5">
            <a:extLst>
              <a:ext uri="{FF2B5EF4-FFF2-40B4-BE49-F238E27FC236}">
                <a16:creationId xmlns:a16="http://schemas.microsoft.com/office/drawing/2014/main" id="{C9A805F0-0A9C-5F31-5827-2001FAF7760E}"/>
              </a:ext>
            </a:extLst>
          </p:cNvPr>
          <p:cNvSpPr txBox="1"/>
          <p:nvPr/>
        </p:nvSpPr>
        <p:spPr>
          <a:xfrm>
            <a:off x="5637659" y="2688938"/>
            <a:ext cx="4843528" cy="21852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3200" b="1" i="1" dirty="0">
                <a:solidFill>
                  <a:srgbClr val="D53774"/>
                </a:solidFill>
              </a:rPr>
              <a:t>/</a:t>
            </a:r>
            <a:r>
              <a:rPr lang="it-IT" sz="3200" b="1" i="1" dirty="0" err="1">
                <a:solidFill>
                  <a:srgbClr val="D53774"/>
                </a:solidFill>
              </a:rPr>
              <a:t>topic</a:t>
            </a:r>
            <a:r>
              <a:rPr lang="it-IT" sz="3200" b="1" i="1" dirty="0">
                <a:solidFill>
                  <a:srgbClr val="D53774"/>
                </a:solidFill>
              </a:rPr>
              <a:t> </a:t>
            </a:r>
          </a:p>
          <a:p>
            <a:endParaRPr lang="it-IT" sz="2800" b="1" i="1" dirty="0">
              <a:solidFill>
                <a:srgbClr val="D53774"/>
              </a:solidFill>
            </a:endParaRPr>
          </a:p>
          <a:p>
            <a:r>
              <a:rPr lang="it-IT" sz="2000" i="1" dirty="0"/>
              <a:t>Creazione e impostazione del </a:t>
            </a:r>
            <a:r>
              <a:rPr lang="it-IT" sz="2000" i="1" dirty="0" err="1"/>
              <a:t>topic</a:t>
            </a:r>
            <a:r>
              <a:rPr lang="it-IT" sz="2000" i="1" dirty="0"/>
              <a:t> di riferimento</a:t>
            </a:r>
          </a:p>
          <a:p>
            <a:endParaRPr lang="it-IT" b="1" i="1" dirty="0">
              <a:solidFill>
                <a:srgbClr val="D53774"/>
              </a:solidFill>
            </a:endParaRPr>
          </a:p>
          <a:p>
            <a:endParaRPr lang="it-IT" b="1" i="1" dirty="0">
              <a:solidFill>
                <a:srgbClr val="D53774"/>
              </a:solidFill>
            </a:endParaRPr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2FACBFBA-594A-26CB-3AF1-DF93E8639BB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370" b="53114"/>
          <a:stretch>
            <a:fillRect/>
          </a:stretch>
        </p:blipFill>
        <p:spPr>
          <a:xfrm>
            <a:off x="838200" y="1758156"/>
            <a:ext cx="4064323" cy="3832076"/>
          </a:xfrm>
          <a:prstGeom prst="rect">
            <a:avLst/>
          </a:prstGeom>
        </p:spPr>
      </p:pic>
      <p:pic>
        <p:nvPicPr>
          <p:cNvPr id="7" name="Immagine 6">
            <a:extLst>
              <a:ext uri="{FF2B5EF4-FFF2-40B4-BE49-F238E27FC236}">
                <a16:creationId xmlns:a16="http://schemas.microsoft.com/office/drawing/2014/main" id="{AFF06C75-71EF-DB88-635C-07148ACAAFE0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958" b="8579"/>
          <a:stretch>
            <a:fillRect/>
          </a:stretch>
        </p:blipFill>
        <p:spPr>
          <a:xfrm>
            <a:off x="10294592" y="6159640"/>
            <a:ext cx="1902488" cy="698360"/>
          </a:xfrm>
          <a:prstGeom prst="rect">
            <a:avLst/>
          </a:prstGeom>
        </p:spPr>
      </p:pic>
      <p:sp>
        <p:nvSpPr>
          <p:cNvPr id="10" name="Titolo 1">
            <a:extLst>
              <a:ext uri="{FF2B5EF4-FFF2-40B4-BE49-F238E27FC236}">
                <a16:creationId xmlns:a16="http://schemas.microsoft.com/office/drawing/2014/main" id="{0A9D1F78-B71C-FB84-2F94-9DB9BEF679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6400" y="273600"/>
            <a:ext cx="10515600" cy="1325563"/>
          </a:xfrm>
        </p:spPr>
        <p:txBody>
          <a:bodyPr/>
          <a:lstStyle/>
          <a:p>
            <a:r>
              <a:rPr lang="it-IT" i="1" dirty="0">
                <a:solidFill>
                  <a:srgbClr val="E16D53"/>
                </a:solidFill>
                <a:latin typeface="Kermit Extrabold" panose="020F0502020204030204" pitchFamily="34" charset="0"/>
              </a:rPr>
              <a:t>Data </a:t>
            </a:r>
            <a:r>
              <a:rPr lang="it-IT" i="1" dirty="0" err="1">
                <a:solidFill>
                  <a:srgbClr val="E16D53"/>
                </a:solidFill>
                <a:latin typeface="Kermit Extrabold" panose="020F0502020204030204" pitchFamily="34" charset="0"/>
              </a:rPr>
              <a:t>Ingestion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40901046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881236-1B47-378A-268F-D16A390D34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Eating Cat GIFs | Tenor">
            <a:extLst>
              <a:ext uri="{FF2B5EF4-FFF2-40B4-BE49-F238E27FC236}">
                <a16:creationId xmlns:a16="http://schemas.microsoft.com/office/drawing/2014/main" id="{5A58C31E-82C7-C9E7-91E7-3DB4319C6E2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38504" y="126338"/>
            <a:ext cx="1400817" cy="1872000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CasellaDiTesto 5">
            <a:extLst>
              <a:ext uri="{FF2B5EF4-FFF2-40B4-BE49-F238E27FC236}">
                <a16:creationId xmlns:a16="http://schemas.microsoft.com/office/drawing/2014/main" id="{9830F973-6938-2387-7E26-EF21B42F0F34}"/>
              </a:ext>
            </a:extLst>
          </p:cNvPr>
          <p:cNvSpPr txBox="1"/>
          <p:nvPr/>
        </p:nvSpPr>
        <p:spPr>
          <a:xfrm>
            <a:off x="5647491" y="3229713"/>
            <a:ext cx="4843528" cy="11387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3200" b="1" i="1" dirty="0">
                <a:solidFill>
                  <a:srgbClr val="D53774"/>
                </a:solidFill>
              </a:rPr>
              <a:t>Invio dei dati…</a:t>
            </a:r>
            <a:endParaRPr lang="it-IT" sz="2000" i="1" dirty="0"/>
          </a:p>
          <a:p>
            <a:endParaRPr lang="it-IT" b="1" i="1" dirty="0">
              <a:solidFill>
                <a:srgbClr val="D53774"/>
              </a:solidFill>
            </a:endParaRPr>
          </a:p>
          <a:p>
            <a:endParaRPr lang="it-IT" b="1" i="1" dirty="0">
              <a:solidFill>
                <a:srgbClr val="D53774"/>
              </a:solidFill>
            </a:endParaRPr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1C7E6E1F-4E26-03F4-7CBE-55635F8B90C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370" b="53114"/>
          <a:stretch>
            <a:fillRect/>
          </a:stretch>
        </p:blipFill>
        <p:spPr>
          <a:xfrm>
            <a:off x="838200" y="1758156"/>
            <a:ext cx="4064323" cy="3832076"/>
          </a:xfrm>
          <a:prstGeom prst="rect">
            <a:avLst/>
          </a:prstGeom>
        </p:spPr>
      </p:pic>
      <p:pic>
        <p:nvPicPr>
          <p:cNvPr id="3" name="Immagine 2">
            <a:extLst>
              <a:ext uri="{FF2B5EF4-FFF2-40B4-BE49-F238E27FC236}">
                <a16:creationId xmlns:a16="http://schemas.microsoft.com/office/drawing/2014/main" id="{F2DFCE5B-83D2-ABFB-83F1-B97841A3660A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958" b="8579"/>
          <a:stretch>
            <a:fillRect/>
          </a:stretch>
        </p:blipFill>
        <p:spPr>
          <a:xfrm>
            <a:off x="10294592" y="6159640"/>
            <a:ext cx="1902488" cy="698360"/>
          </a:xfrm>
          <a:prstGeom prst="rect">
            <a:avLst/>
          </a:prstGeom>
        </p:spPr>
      </p:pic>
      <p:sp>
        <p:nvSpPr>
          <p:cNvPr id="8" name="Titolo 1">
            <a:extLst>
              <a:ext uri="{FF2B5EF4-FFF2-40B4-BE49-F238E27FC236}">
                <a16:creationId xmlns:a16="http://schemas.microsoft.com/office/drawing/2014/main" id="{08B0EDC8-5CAD-1E95-CE58-5C9412FEEA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6400" y="273600"/>
            <a:ext cx="10515600" cy="1325563"/>
          </a:xfrm>
        </p:spPr>
        <p:txBody>
          <a:bodyPr/>
          <a:lstStyle/>
          <a:p>
            <a:r>
              <a:rPr lang="it-IT" i="1" dirty="0">
                <a:solidFill>
                  <a:srgbClr val="E16D53"/>
                </a:solidFill>
                <a:latin typeface="Kermit Extrabold" panose="020F0502020204030204" pitchFamily="34" charset="0"/>
              </a:rPr>
              <a:t>Data </a:t>
            </a:r>
            <a:r>
              <a:rPr lang="it-IT" i="1" dirty="0" err="1">
                <a:solidFill>
                  <a:srgbClr val="E16D53"/>
                </a:solidFill>
                <a:latin typeface="Kermit Extrabold" panose="020F0502020204030204" pitchFamily="34" charset="0"/>
              </a:rPr>
              <a:t>Ingestion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775619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89F1B3-FC8D-32CE-F448-71924D5A51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8E1C588-5234-8F19-DAA9-3AF748E894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6400" y="273600"/>
            <a:ext cx="10515600" cy="1325563"/>
          </a:xfrm>
        </p:spPr>
        <p:txBody>
          <a:bodyPr/>
          <a:lstStyle/>
          <a:p>
            <a:r>
              <a:rPr lang="it-IT" i="1" dirty="0">
                <a:solidFill>
                  <a:srgbClr val="E16D53"/>
                </a:solidFill>
                <a:latin typeface="Kermit Extrabold" panose="020F0502020204030204" pitchFamily="34" charset="0"/>
              </a:rPr>
              <a:t>Data </a:t>
            </a:r>
            <a:r>
              <a:rPr lang="it-IT" i="1" dirty="0" err="1">
                <a:solidFill>
                  <a:srgbClr val="E16D53"/>
                </a:solidFill>
                <a:latin typeface="Kermit Extrabold" panose="020F0502020204030204" pitchFamily="34" charset="0"/>
              </a:rPr>
              <a:t>Ingestion</a:t>
            </a:r>
            <a:endParaRPr lang="it-IT" dirty="0"/>
          </a:p>
        </p:txBody>
      </p:sp>
      <p:pic>
        <p:nvPicPr>
          <p:cNvPr id="2050" name="Picture 2" descr="Eating Cat GIFs | Tenor">
            <a:extLst>
              <a:ext uri="{FF2B5EF4-FFF2-40B4-BE49-F238E27FC236}">
                <a16:creationId xmlns:a16="http://schemas.microsoft.com/office/drawing/2014/main" id="{008EE8A9-0A52-F815-8E92-82EC70F436A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38504" y="126338"/>
            <a:ext cx="1400817" cy="1872000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CasellaDiTesto 5">
            <a:extLst>
              <a:ext uri="{FF2B5EF4-FFF2-40B4-BE49-F238E27FC236}">
                <a16:creationId xmlns:a16="http://schemas.microsoft.com/office/drawing/2014/main" id="{E766A3E3-920D-CFD0-76E2-40706FF99480}"/>
              </a:ext>
            </a:extLst>
          </p:cNvPr>
          <p:cNvSpPr txBox="1"/>
          <p:nvPr/>
        </p:nvSpPr>
        <p:spPr>
          <a:xfrm>
            <a:off x="5549169" y="3537155"/>
            <a:ext cx="4843528" cy="12618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000" dirty="0"/>
              <a:t>Il sistema supporta anche l’invio di </a:t>
            </a:r>
          </a:p>
          <a:p>
            <a:pPr algn="ctr"/>
            <a:r>
              <a:rPr lang="it-IT" sz="2000" dirty="0"/>
              <a:t>(1) file in formato PDF</a:t>
            </a:r>
            <a:endParaRPr lang="it-IT" sz="1400" dirty="0"/>
          </a:p>
          <a:p>
            <a:endParaRPr lang="it-IT" b="1" i="1" dirty="0">
              <a:solidFill>
                <a:srgbClr val="D53774"/>
              </a:solidFill>
            </a:endParaRPr>
          </a:p>
          <a:p>
            <a:endParaRPr lang="it-IT" b="1" i="1" dirty="0">
              <a:solidFill>
                <a:srgbClr val="D53774"/>
              </a:solidFill>
            </a:endParaRPr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035877EF-535F-336C-1930-381A967A879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521" b="46479"/>
          <a:stretch>
            <a:fillRect/>
          </a:stretch>
        </p:blipFill>
        <p:spPr>
          <a:xfrm>
            <a:off x="838200" y="1758156"/>
            <a:ext cx="4064323" cy="4403016"/>
          </a:xfrm>
          <a:prstGeom prst="rect">
            <a:avLst/>
          </a:prstGeom>
        </p:spPr>
      </p:pic>
      <p:pic>
        <p:nvPicPr>
          <p:cNvPr id="7" name="Immagine 6">
            <a:extLst>
              <a:ext uri="{FF2B5EF4-FFF2-40B4-BE49-F238E27FC236}">
                <a16:creationId xmlns:a16="http://schemas.microsoft.com/office/drawing/2014/main" id="{B7840AE5-0461-A394-6348-3186FCCD8064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958" b="8579"/>
          <a:stretch>
            <a:fillRect/>
          </a:stretch>
        </p:blipFill>
        <p:spPr>
          <a:xfrm>
            <a:off x="10294592" y="6159640"/>
            <a:ext cx="1902488" cy="6983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34035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>
            <a:extLst>
              <a:ext uri="{FF2B5EF4-FFF2-40B4-BE49-F238E27FC236}">
                <a16:creationId xmlns:a16="http://schemas.microsoft.com/office/drawing/2014/main" id="{FA6385BA-AB28-0218-F02E-2C6F6100D9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34260" y="2606407"/>
            <a:ext cx="1424818" cy="14248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10" descr="Icona di Apache kafka logo">
            <a:extLst>
              <a:ext uri="{FF2B5EF4-FFF2-40B4-BE49-F238E27FC236}">
                <a16:creationId xmlns:a16="http://schemas.microsoft.com/office/drawing/2014/main" id="{A9B7BFD9-1618-EA47-D2BE-A1C9CC8BC73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61191" y="2530028"/>
            <a:ext cx="3155148" cy="15775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6" name="Connettore 2 5">
            <a:extLst>
              <a:ext uri="{FF2B5EF4-FFF2-40B4-BE49-F238E27FC236}">
                <a16:creationId xmlns:a16="http://schemas.microsoft.com/office/drawing/2014/main" id="{34DE64F1-8548-F792-A0DD-0D1AC5CBEC11}"/>
              </a:ext>
            </a:extLst>
          </p:cNvPr>
          <p:cNvCxnSpPr>
            <a:cxnSpLocks/>
          </p:cNvCxnSpPr>
          <p:nvPr/>
        </p:nvCxnSpPr>
        <p:spPr>
          <a:xfrm>
            <a:off x="4510139" y="3339131"/>
            <a:ext cx="2051577" cy="0"/>
          </a:xfrm>
          <a:prstGeom prst="straightConnector1">
            <a:avLst/>
          </a:prstGeom>
          <a:ln w="38100" cap="flat" cmpd="sng" algn="ctr">
            <a:solidFill>
              <a:srgbClr val="D53774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A3F4C53E-A83D-7E44-4B15-DF3F19736F11}"/>
              </a:ext>
            </a:extLst>
          </p:cNvPr>
          <p:cNvSpPr txBox="1"/>
          <p:nvPr/>
        </p:nvSpPr>
        <p:spPr>
          <a:xfrm>
            <a:off x="5090131" y="2736506"/>
            <a:ext cx="89159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2000" dirty="0"/>
              <a:t>{ </a:t>
            </a:r>
            <a:r>
              <a:rPr lang="it-IT" sz="2000" dirty="0" err="1"/>
              <a:t>json</a:t>
            </a:r>
            <a:r>
              <a:rPr lang="it-IT" sz="2000" dirty="0"/>
              <a:t> }</a:t>
            </a:r>
          </a:p>
        </p:txBody>
      </p: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B398868C-6BC4-8E09-C95D-2EEA80F20A45}"/>
              </a:ext>
            </a:extLst>
          </p:cNvPr>
          <p:cNvSpPr txBox="1"/>
          <p:nvPr/>
        </p:nvSpPr>
        <p:spPr>
          <a:xfrm>
            <a:off x="9106608" y="3861948"/>
            <a:ext cx="158105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600" dirty="0"/>
              <a:t>‘</a:t>
            </a:r>
            <a:r>
              <a:rPr lang="it-IT" sz="1600" dirty="0" err="1"/>
              <a:t>tc</a:t>
            </a:r>
            <a:r>
              <a:rPr lang="it-IT" sz="1600" dirty="0"/>
              <a:t>-input’</a:t>
            </a:r>
          </a:p>
        </p:txBody>
      </p:sp>
      <p:pic>
        <p:nvPicPr>
          <p:cNvPr id="10" name="Immagine 9">
            <a:extLst>
              <a:ext uri="{FF2B5EF4-FFF2-40B4-BE49-F238E27FC236}">
                <a16:creationId xmlns:a16="http://schemas.microsoft.com/office/drawing/2014/main" id="{17F6CADE-1637-EA8D-DC75-B2B2BAF77259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958" b="8579"/>
          <a:stretch>
            <a:fillRect/>
          </a:stretch>
        </p:blipFill>
        <p:spPr>
          <a:xfrm>
            <a:off x="10294592" y="6159640"/>
            <a:ext cx="1902488" cy="6983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93215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8DA2EB-A371-F7BB-E428-7F5F523F73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10" descr="Icona di Apache kafka logo">
            <a:extLst>
              <a:ext uri="{FF2B5EF4-FFF2-40B4-BE49-F238E27FC236}">
                <a16:creationId xmlns:a16="http://schemas.microsoft.com/office/drawing/2014/main" id="{40BBC901-E7DC-7B60-BE2C-BDEE99FFE05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6094" y="2431705"/>
            <a:ext cx="3155148" cy="15775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6" name="Connettore 2 5">
            <a:extLst>
              <a:ext uri="{FF2B5EF4-FFF2-40B4-BE49-F238E27FC236}">
                <a16:creationId xmlns:a16="http://schemas.microsoft.com/office/drawing/2014/main" id="{D17C04FC-ED3A-7231-0E40-5B50C28FE3EA}"/>
              </a:ext>
            </a:extLst>
          </p:cNvPr>
          <p:cNvCxnSpPr>
            <a:cxnSpLocks/>
          </p:cNvCxnSpPr>
          <p:nvPr/>
        </p:nvCxnSpPr>
        <p:spPr>
          <a:xfrm>
            <a:off x="4800136" y="3285481"/>
            <a:ext cx="2051577" cy="0"/>
          </a:xfrm>
          <a:prstGeom prst="straightConnector1">
            <a:avLst/>
          </a:prstGeom>
          <a:ln w="38100" cap="flat" cmpd="sng" algn="ctr">
            <a:solidFill>
              <a:srgbClr val="D53774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484DF526-8553-1633-064F-F6FC027B7060}"/>
              </a:ext>
            </a:extLst>
          </p:cNvPr>
          <p:cNvSpPr txBox="1"/>
          <p:nvPr/>
        </p:nvSpPr>
        <p:spPr>
          <a:xfrm>
            <a:off x="5380128" y="2682856"/>
            <a:ext cx="89159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2000" dirty="0"/>
              <a:t>{ </a:t>
            </a:r>
            <a:r>
              <a:rPr lang="it-IT" sz="2000" dirty="0" err="1"/>
              <a:t>json</a:t>
            </a:r>
            <a:r>
              <a:rPr lang="it-IT" sz="2000" dirty="0"/>
              <a:t> }</a:t>
            </a:r>
          </a:p>
        </p:txBody>
      </p: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9D63B622-E7FC-27D0-8D9F-99B6452BEB00}"/>
              </a:ext>
            </a:extLst>
          </p:cNvPr>
          <p:cNvSpPr txBox="1"/>
          <p:nvPr/>
        </p:nvSpPr>
        <p:spPr>
          <a:xfrm>
            <a:off x="2371511" y="3763625"/>
            <a:ext cx="158105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600" dirty="0"/>
              <a:t>‘</a:t>
            </a:r>
            <a:r>
              <a:rPr lang="it-IT" sz="1600" dirty="0" err="1"/>
              <a:t>tc</a:t>
            </a:r>
            <a:r>
              <a:rPr lang="it-IT" sz="1600" dirty="0"/>
              <a:t>-input’</a:t>
            </a:r>
          </a:p>
        </p:txBody>
      </p:sp>
      <p:pic>
        <p:nvPicPr>
          <p:cNvPr id="2" name="Picture 4" descr="Apache Spark è un'applicazione di Apache Open Source sviluppata da Solix  Technologies, Inc.">
            <a:extLst>
              <a:ext uri="{FF2B5EF4-FFF2-40B4-BE49-F238E27FC236}">
                <a16:creationId xmlns:a16="http://schemas.microsoft.com/office/drawing/2014/main" id="{AC8C1DEF-ABD8-E446-2814-AE3EC186BDB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70605" y="2462784"/>
            <a:ext cx="2595950" cy="13476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Immagine 2">
            <a:extLst>
              <a:ext uri="{FF2B5EF4-FFF2-40B4-BE49-F238E27FC236}">
                <a16:creationId xmlns:a16="http://schemas.microsoft.com/office/drawing/2014/main" id="{86F58093-3958-AD07-B8CE-957FF89A7969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958" b="8579"/>
          <a:stretch>
            <a:fillRect/>
          </a:stretch>
        </p:blipFill>
        <p:spPr>
          <a:xfrm>
            <a:off x="10294592" y="6159640"/>
            <a:ext cx="1902488" cy="6983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774808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1AF43B-7A7B-A34B-E476-E9C9F3D0D7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8E63E58-2E6C-5792-2397-060F052993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910" y="273362"/>
            <a:ext cx="10515600" cy="1325563"/>
          </a:xfrm>
        </p:spPr>
        <p:txBody>
          <a:bodyPr/>
          <a:lstStyle/>
          <a:p>
            <a:r>
              <a:rPr lang="it-IT" i="1" dirty="0">
                <a:solidFill>
                  <a:srgbClr val="E16D53"/>
                </a:solidFill>
                <a:latin typeface="Kermit Extrabold" panose="020F0502020204030204" pitchFamily="34" charset="0"/>
              </a:rPr>
              <a:t>Data Analysis</a:t>
            </a:r>
            <a:endParaRPr lang="it-IT" dirty="0"/>
          </a:p>
        </p:txBody>
      </p:sp>
      <p:pic>
        <p:nvPicPr>
          <p:cNvPr id="3" name="Immagine 2" descr="Cat Loading GIFs | Tenor">
            <a:extLst>
              <a:ext uri="{FF2B5EF4-FFF2-40B4-BE49-F238E27FC236}">
                <a16:creationId xmlns:a16="http://schemas.microsoft.com/office/drawing/2014/main" id="{31B4BC4F-467C-481E-14D7-9C09210ADA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20019" y="193851"/>
            <a:ext cx="1775336" cy="1775336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4" name="Immagine 3">
            <a:extLst>
              <a:ext uri="{FF2B5EF4-FFF2-40B4-BE49-F238E27FC236}">
                <a16:creationId xmlns:a16="http://schemas.microsoft.com/office/drawing/2014/main" id="{7248A6AA-FE83-D5B3-3040-830F40E92553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958" b="8579"/>
          <a:stretch>
            <a:fillRect/>
          </a:stretch>
        </p:blipFill>
        <p:spPr>
          <a:xfrm>
            <a:off x="10294592" y="6159640"/>
            <a:ext cx="1902488" cy="698360"/>
          </a:xfrm>
          <a:prstGeom prst="rect">
            <a:avLst/>
          </a:prstGeom>
        </p:spPr>
      </p:pic>
      <p:pic>
        <p:nvPicPr>
          <p:cNvPr id="7" name="Immagine 6">
            <a:extLst>
              <a:ext uri="{FF2B5EF4-FFF2-40B4-BE49-F238E27FC236}">
                <a16:creationId xmlns:a16="http://schemas.microsoft.com/office/drawing/2014/main" id="{65B2BE16-FFB0-F5A8-D403-08707813598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01729" y="1227646"/>
            <a:ext cx="2153537" cy="1117211"/>
          </a:xfrm>
          <a:prstGeom prst="rect">
            <a:avLst/>
          </a:prstGeom>
        </p:spPr>
      </p:pic>
      <p:cxnSp>
        <p:nvCxnSpPr>
          <p:cNvPr id="28" name="Connettore 2 27">
            <a:extLst>
              <a:ext uri="{FF2B5EF4-FFF2-40B4-BE49-F238E27FC236}">
                <a16:creationId xmlns:a16="http://schemas.microsoft.com/office/drawing/2014/main" id="{56115FAC-EAA7-3A50-31B4-5F044A39DC9B}"/>
              </a:ext>
            </a:extLst>
          </p:cNvPr>
          <p:cNvCxnSpPr>
            <a:cxnSpLocks/>
          </p:cNvCxnSpPr>
          <p:nvPr/>
        </p:nvCxnSpPr>
        <p:spPr>
          <a:xfrm>
            <a:off x="5790513" y="2675622"/>
            <a:ext cx="1925129" cy="381951"/>
          </a:xfrm>
          <a:prstGeom prst="straightConnector1">
            <a:avLst/>
          </a:prstGeom>
          <a:ln w="38100" cap="flat" cmpd="sng" algn="ctr">
            <a:solidFill>
              <a:srgbClr val="D53774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1" name="Connettore 2 30">
            <a:extLst>
              <a:ext uri="{FF2B5EF4-FFF2-40B4-BE49-F238E27FC236}">
                <a16:creationId xmlns:a16="http://schemas.microsoft.com/office/drawing/2014/main" id="{BA224643-1A21-D0B8-C0FE-D249C6750705}"/>
              </a:ext>
            </a:extLst>
          </p:cNvPr>
          <p:cNvCxnSpPr>
            <a:cxnSpLocks/>
          </p:cNvCxnSpPr>
          <p:nvPr/>
        </p:nvCxnSpPr>
        <p:spPr>
          <a:xfrm flipH="1">
            <a:off x="3865384" y="2675622"/>
            <a:ext cx="1925129" cy="381951"/>
          </a:xfrm>
          <a:prstGeom prst="straightConnector1">
            <a:avLst/>
          </a:prstGeom>
          <a:ln w="38100" cap="flat" cmpd="sng" algn="ctr">
            <a:solidFill>
              <a:srgbClr val="D53774"/>
            </a:solidFill>
            <a:prstDash val="dash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pic>
        <p:nvPicPr>
          <p:cNvPr id="32" name="Picture 20" descr="Python (programming language) - Wikipedia">
            <a:extLst>
              <a:ext uri="{FF2B5EF4-FFF2-40B4-BE49-F238E27FC236}">
                <a16:creationId xmlns:a16="http://schemas.microsoft.com/office/drawing/2014/main" id="{9B59A656-0B96-E75C-06B1-CED302C3685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90787" y="3411249"/>
            <a:ext cx="646348" cy="6463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3" name="CasellaDiTesto 32">
            <a:extLst>
              <a:ext uri="{FF2B5EF4-FFF2-40B4-BE49-F238E27FC236}">
                <a16:creationId xmlns:a16="http://schemas.microsoft.com/office/drawing/2014/main" id="{0072718C-EA1F-E096-1840-624AA64479E2}"/>
              </a:ext>
            </a:extLst>
          </p:cNvPr>
          <p:cNvSpPr txBox="1"/>
          <p:nvPr/>
        </p:nvSpPr>
        <p:spPr>
          <a:xfrm>
            <a:off x="2801826" y="2826740"/>
            <a:ext cx="68320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2400" b="1" dirty="0"/>
              <a:t>PDF</a:t>
            </a:r>
          </a:p>
        </p:txBody>
      </p:sp>
      <p:sp>
        <p:nvSpPr>
          <p:cNvPr id="34" name="CasellaDiTesto 33">
            <a:extLst>
              <a:ext uri="{FF2B5EF4-FFF2-40B4-BE49-F238E27FC236}">
                <a16:creationId xmlns:a16="http://schemas.microsoft.com/office/drawing/2014/main" id="{99F3F263-DFD4-7294-E6F7-AAA85822BB18}"/>
              </a:ext>
            </a:extLst>
          </p:cNvPr>
          <p:cNvSpPr txBox="1"/>
          <p:nvPr/>
        </p:nvSpPr>
        <p:spPr>
          <a:xfrm>
            <a:off x="7998174" y="2826480"/>
            <a:ext cx="104983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2400" b="1" dirty="0"/>
              <a:t>AUDIO</a:t>
            </a:r>
          </a:p>
        </p:txBody>
      </p:sp>
      <p:sp>
        <p:nvSpPr>
          <p:cNvPr id="39" name="CasellaDiTesto 38">
            <a:extLst>
              <a:ext uri="{FF2B5EF4-FFF2-40B4-BE49-F238E27FC236}">
                <a16:creationId xmlns:a16="http://schemas.microsoft.com/office/drawing/2014/main" id="{D5368B63-E870-CE4E-845D-3717BEFEA8EE}"/>
              </a:ext>
            </a:extLst>
          </p:cNvPr>
          <p:cNvSpPr txBox="1"/>
          <p:nvPr/>
        </p:nvSpPr>
        <p:spPr>
          <a:xfrm>
            <a:off x="2801826" y="4116237"/>
            <a:ext cx="84337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2000" dirty="0" err="1">
                <a:solidFill>
                  <a:srgbClr val="C00000"/>
                </a:solidFill>
              </a:rPr>
              <a:t>PyPDF</a:t>
            </a:r>
            <a:endParaRPr lang="it-IT" sz="2000" dirty="0">
              <a:solidFill>
                <a:srgbClr val="C00000"/>
              </a:solidFill>
            </a:endParaRPr>
          </a:p>
        </p:txBody>
      </p:sp>
      <p:pic>
        <p:nvPicPr>
          <p:cNvPr id="40" name="Picture 16" descr="Open-source AI models that give you privacy back - Nextcloud">
            <a:extLst>
              <a:ext uri="{FF2B5EF4-FFF2-40B4-BE49-F238E27FC236}">
                <a16:creationId xmlns:a16="http://schemas.microsoft.com/office/drawing/2014/main" id="{3BDE96E8-4F07-AAB0-BE15-8A6EE5C6E7B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63673" y="3411249"/>
            <a:ext cx="1017967" cy="10502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42" name="Connettore diritto 41">
            <a:extLst>
              <a:ext uri="{FF2B5EF4-FFF2-40B4-BE49-F238E27FC236}">
                <a16:creationId xmlns:a16="http://schemas.microsoft.com/office/drawing/2014/main" id="{4144F219-8194-27CE-43A1-E319DA62D2EB}"/>
              </a:ext>
            </a:extLst>
          </p:cNvPr>
          <p:cNvCxnSpPr>
            <a:cxnSpLocks/>
            <a:stCxn id="7" idx="2"/>
          </p:cNvCxnSpPr>
          <p:nvPr/>
        </p:nvCxnSpPr>
        <p:spPr>
          <a:xfrm>
            <a:off x="5778498" y="2344857"/>
            <a:ext cx="0" cy="325671"/>
          </a:xfrm>
          <a:prstGeom prst="line">
            <a:avLst/>
          </a:prstGeom>
          <a:ln w="38100">
            <a:solidFill>
              <a:srgbClr val="D5377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Connettore diritto 52">
            <a:extLst>
              <a:ext uri="{FF2B5EF4-FFF2-40B4-BE49-F238E27FC236}">
                <a16:creationId xmlns:a16="http://schemas.microsoft.com/office/drawing/2014/main" id="{95F1E900-E1EE-1160-27AE-E5E7E8FDF8CA}"/>
              </a:ext>
            </a:extLst>
          </p:cNvPr>
          <p:cNvCxnSpPr>
            <a:cxnSpLocks/>
          </p:cNvCxnSpPr>
          <p:nvPr/>
        </p:nvCxnSpPr>
        <p:spPr>
          <a:xfrm>
            <a:off x="3187698" y="4670186"/>
            <a:ext cx="0" cy="786717"/>
          </a:xfrm>
          <a:prstGeom prst="line">
            <a:avLst/>
          </a:prstGeom>
          <a:ln w="38100">
            <a:solidFill>
              <a:srgbClr val="D5377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Connettore 2 54">
            <a:extLst>
              <a:ext uri="{FF2B5EF4-FFF2-40B4-BE49-F238E27FC236}">
                <a16:creationId xmlns:a16="http://schemas.microsoft.com/office/drawing/2014/main" id="{B9F4BFEA-1B0C-ABDC-033D-03F0C14F062C}"/>
              </a:ext>
            </a:extLst>
          </p:cNvPr>
          <p:cNvCxnSpPr>
            <a:cxnSpLocks/>
          </p:cNvCxnSpPr>
          <p:nvPr/>
        </p:nvCxnSpPr>
        <p:spPr>
          <a:xfrm>
            <a:off x="3187698" y="5439378"/>
            <a:ext cx="1514031" cy="190976"/>
          </a:xfrm>
          <a:prstGeom prst="straightConnector1">
            <a:avLst/>
          </a:prstGeom>
          <a:ln w="38100" cap="flat" cmpd="sng" algn="ctr">
            <a:solidFill>
              <a:srgbClr val="D53774"/>
            </a:solidFill>
            <a:prstDash val="dash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pic>
        <p:nvPicPr>
          <p:cNvPr id="57" name="Picture 18" descr="Finetune Llama 3.1 with Unsloth">
            <a:extLst>
              <a:ext uri="{FF2B5EF4-FFF2-40B4-BE49-F238E27FC236}">
                <a16:creationId xmlns:a16="http://schemas.microsoft.com/office/drawing/2014/main" id="{2E41E283-EA49-7DD2-81FD-2C85D5BC888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109" t="11582" r="7244" b="32373"/>
          <a:stretch>
            <a:fillRect/>
          </a:stretch>
        </p:blipFill>
        <p:spPr bwMode="auto">
          <a:xfrm>
            <a:off x="4875232" y="5229815"/>
            <a:ext cx="1818164" cy="8010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60" name="Connettore diritto 59">
            <a:extLst>
              <a:ext uri="{FF2B5EF4-FFF2-40B4-BE49-F238E27FC236}">
                <a16:creationId xmlns:a16="http://schemas.microsoft.com/office/drawing/2014/main" id="{6BE14F1E-A0B9-0A64-782C-04CB5EB00176}"/>
              </a:ext>
            </a:extLst>
          </p:cNvPr>
          <p:cNvCxnSpPr>
            <a:cxnSpLocks/>
          </p:cNvCxnSpPr>
          <p:nvPr/>
        </p:nvCxnSpPr>
        <p:spPr>
          <a:xfrm>
            <a:off x="8461430" y="4670186"/>
            <a:ext cx="0" cy="786717"/>
          </a:xfrm>
          <a:prstGeom prst="line">
            <a:avLst/>
          </a:prstGeom>
          <a:ln w="38100">
            <a:solidFill>
              <a:srgbClr val="D5377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Connettore 2 60">
            <a:extLst>
              <a:ext uri="{FF2B5EF4-FFF2-40B4-BE49-F238E27FC236}">
                <a16:creationId xmlns:a16="http://schemas.microsoft.com/office/drawing/2014/main" id="{AC1EB5D3-7394-150D-F447-F71708B7E10C}"/>
              </a:ext>
            </a:extLst>
          </p:cNvPr>
          <p:cNvCxnSpPr>
            <a:cxnSpLocks/>
          </p:cNvCxnSpPr>
          <p:nvPr/>
        </p:nvCxnSpPr>
        <p:spPr>
          <a:xfrm flipH="1">
            <a:off x="6958626" y="5456903"/>
            <a:ext cx="1514031" cy="190976"/>
          </a:xfrm>
          <a:prstGeom prst="straightConnector1">
            <a:avLst/>
          </a:prstGeom>
          <a:ln w="38100" cap="flat" cmpd="sng" algn="ctr">
            <a:solidFill>
              <a:srgbClr val="D53774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62" name="CasellaDiTesto 61">
            <a:extLst>
              <a:ext uri="{FF2B5EF4-FFF2-40B4-BE49-F238E27FC236}">
                <a16:creationId xmlns:a16="http://schemas.microsoft.com/office/drawing/2014/main" id="{5FB1E33A-ECD0-C337-761B-7AA368B28A9A}"/>
              </a:ext>
            </a:extLst>
          </p:cNvPr>
          <p:cNvSpPr txBox="1"/>
          <p:nvPr/>
        </p:nvSpPr>
        <p:spPr>
          <a:xfrm>
            <a:off x="8812363" y="3324201"/>
            <a:ext cx="3385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2400" b="1" dirty="0">
                <a:solidFill>
                  <a:srgbClr val="9900FF"/>
                </a:solidFill>
              </a:rPr>
              <a:t>*</a:t>
            </a:r>
          </a:p>
        </p:txBody>
      </p:sp>
      <p:sp>
        <p:nvSpPr>
          <p:cNvPr id="63" name="CasellaDiTesto 62">
            <a:extLst>
              <a:ext uri="{FF2B5EF4-FFF2-40B4-BE49-F238E27FC236}">
                <a16:creationId xmlns:a16="http://schemas.microsoft.com/office/drawing/2014/main" id="{447B9EDF-8C55-E087-070A-1EF9AB5081ED}"/>
              </a:ext>
            </a:extLst>
          </p:cNvPr>
          <p:cNvSpPr txBox="1"/>
          <p:nvPr/>
        </p:nvSpPr>
        <p:spPr>
          <a:xfrm>
            <a:off x="6583800" y="5417046"/>
            <a:ext cx="3385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2400" b="1" dirty="0">
                <a:solidFill>
                  <a:srgbClr val="9900FF"/>
                </a:solidFill>
              </a:rPr>
              <a:t>*</a:t>
            </a:r>
          </a:p>
        </p:txBody>
      </p:sp>
      <p:sp>
        <p:nvSpPr>
          <p:cNvPr id="2048" name="CasellaDiTesto 2047">
            <a:extLst>
              <a:ext uri="{FF2B5EF4-FFF2-40B4-BE49-F238E27FC236}">
                <a16:creationId xmlns:a16="http://schemas.microsoft.com/office/drawing/2014/main" id="{C4CD3781-28C0-687E-7316-D9C526AC3247}"/>
              </a:ext>
            </a:extLst>
          </p:cNvPr>
          <p:cNvSpPr txBox="1"/>
          <p:nvPr/>
        </p:nvSpPr>
        <p:spPr>
          <a:xfrm>
            <a:off x="71293" y="6508820"/>
            <a:ext cx="362310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1100" b="1" i="1" dirty="0">
                <a:solidFill>
                  <a:srgbClr val="9900FF"/>
                </a:solidFill>
              </a:rPr>
              <a:t>*Modelli remoti con accesso tramite API key di Groq.com</a:t>
            </a:r>
          </a:p>
        </p:txBody>
      </p:sp>
    </p:spTree>
    <p:extLst>
      <p:ext uri="{BB962C8B-B14F-4D97-AF65-F5344CB8AC3E}">
        <p14:creationId xmlns:p14="http://schemas.microsoft.com/office/powerpoint/2010/main" val="35960091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2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1C15FC-B471-B137-FB18-9C1A1D90CF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73C87F4-BC0E-89C5-B021-DF19BA8D29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910" y="273362"/>
            <a:ext cx="10515600" cy="1325563"/>
          </a:xfrm>
        </p:spPr>
        <p:txBody>
          <a:bodyPr/>
          <a:lstStyle/>
          <a:p>
            <a:r>
              <a:rPr lang="it-IT" i="1" dirty="0">
                <a:solidFill>
                  <a:srgbClr val="E16D53"/>
                </a:solidFill>
                <a:latin typeface="Kermit Extrabold" panose="020F0502020204030204" pitchFamily="34" charset="0"/>
              </a:rPr>
              <a:t>Data Analysis</a:t>
            </a:r>
            <a:endParaRPr lang="it-IT" dirty="0"/>
          </a:p>
        </p:txBody>
      </p:sp>
      <p:pic>
        <p:nvPicPr>
          <p:cNvPr id="3" name="Immagine 2" descr="Cat Loading GIFs | Tenor">
            <a:extLst>
              <a:ext uri="{FF2B5EF4-FFF2-40B4-BE49-F238E27FC236}">
                <a16:creationId xmlns:a16="http://schemas.microsoft.com/office/drawing/2014/main" id="{C9DEF930-78E5-0603-5FAC-2DFEA8E0D1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20019" y="193851"/>
            <a:ext cx="1775336" cy="1775336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4" name="Immagine 3">
            <a:extLst>
              <a:ext uri="{FF2B5EF4-FFF2-40B4-BE49-F238E27FC236}">
                <a16:creationId xmlns:a16="http://schemas.microsoft.com/office/drawing/2014/main" id="{7433A3E7-B561-CCD1-B009-B34A49E307EB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958" b="8579"/>
          <a:stretch>
            <a:fillRect/>
          </a:stretch>
        </p:blipFill>
        <p:spPr>
          <a:xfrm>
            <a:off x="10289512" y="6235458"/>
            <a:ext cx="1902488" cy="698360"/>
          </a:xfrm>
          <a:prstGeom prst="rect">
            <a:avLst/>
          </a:prstGeom>
        </p:spPr>
      </p:pic>
      <p:pic>
        <p:nvPicPr>
          <p:cNvPr id="7" name="Immagine 6">
            <a:extLst>
              <a:ext uri="{FF2B5EF4-FFF2-40B4-BE49-F238E27FC236}">
                <a16:creationId xmlns:a16="http://schemas.microsoft.com/office/drawing/2014/main" id="{DC32C45A-263E-5442-B284-675AD3F3F032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50000"/>
          </a:blip>
          <a:stretch>
            <a:fillRect/>
          </a:stretch>
        </p:blipFill>
        <p:spPr>
          <a:xfrm>
            <a:off x="336207" y="1678436"/>
            <a:ext cx="2153537" cy="1117211"/>
          </a:xfrm>
          <a:prstGeom prst="rect">
            <a:avLst/>
          </a:prstGeom>
        </p:spPr>
      </p:pic>
      <p:cxnSp>
        <p:nvCxnSpPr>
          <p:cNvPr id="28" name="Connettore 2 27">
            <a:extLst>
              <a:ext uri="{FF2B5EF4-FFF2-40B4-BE49-F238E27FC236}">
                <a16:creationId xmlns:a16="http://schemas.microsoft.com/office/drawing/2014/main" id="{D93E264F-A6C1-23E9-00E3-EA0FA5644696}"/>
              </a:ext>
            </a:extLst>
          </p:cNvPr>
          <p:cNvCxnSpPr>
            <a:cxnSpLocks/>
          </p:cNvCxnSpPr>
          <p:nvPr/>
        </p:nvCxnSpPr>
        <p:spPr>
          <a:xfrm>
            <a:off x="1424991" y="3126412"/>
            <a:ext cx="1925129" cy="381951"/>
          </a:xfrm>
          <a:prstGeom prst="straightConnector1">
            <a:avLst/>
          </a:prstGeom>
          <a:ln w="38100" cap="flat" cmpd="sng" algn="ctr">
            <a:solidFill>
              <a:srgbClr val="D53774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34" name="CasellaDiTesto 33">
            <a:extLst>
              <a:ext uri="{FF2B5EF4-FFF2-40B4-BE49-F238E27FC236}">
                <a16:creationId xmlns:a16="http://schemas.microsoft.com/office/drawing/2014/main" id="{E4F803F7-5C1C-09C2-0C37-624FD5A77714}"/>
              </a:ext>
            </a:extLst>
          </p:cNvPr>
          <p:cNvSpPr txBox="1"/>
          <p:nvPr/>
        </p:nvSpPr>
        <p:spPr>
          <a:xfrm>
            <a:off x="3632652" y="3277270"/>
            <a:ext cx="104983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2400" b="1" dirty="0"/>
              <a:t>AUDIO</a:t>
            </a:r>
          </a:p>
        </p:txBody>
      </p:sp>
      <p:pic>
        <p:nvPicPr>
          <p:cNvPr id="40" name="Picture 16" descr="Open-source AI models that give you privacy back - Nextcloud">
            <a:extLst>
              <a:ext uri="{FF2B5EF4-FFF2-40B4-BE49-F238E27FC236}">
                <a16:creationId xmlns:a16="http://schemas.microsoft.com/office/drawing/2014/main" id="{E7D32AEB-49CA-6A7E-40B0-2B46C833372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98151" y="3862039"/>
            <a:ext cx="1017967" cy="10502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42" name="Connettore diritto 41">
            <a:extLst>
              <a:ext uri="{FF2B5EF4-FFF2-40B4-BE49-F238E27FC236}">
                <a16:creationId xmlns:a16="http://schemas.microsoft.com/office/drawing/2014/main" id="{5C2B3057-6AF2-6032-F958-4081176339BA}"/>
              </a:ext>
            </a:extLst>
          </p:cNvPr>
          <p:cNvCxnSpPr>
            <a:cxnSpLocks/>
            <a:stCxn id="7" idx="2"/>
          </p:cNvCxnSpPr>
          <p:nvPr/>
        </p:nvCxnSpPr>
        <p:spPr>
          <a:xfrm>
            <a:off x="1412976" y="2795647"/>
            <a:ext cx="0" cy="325671"/>
          </a:xfrm>
          <a:prstGeom prst="line">
            <a:avLst/>
          </a:prstGeom>
          <a:ln w="38100">
            <a:solidFill>
              <a:srgbClr val="D53774">
                <a:alpha val="5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Connettore diritto 59">
            <a:extLst>
              <a:ext uri="{FF2B5EF4-FFF2-40B4-BE49-F238E27FC236}">
                <a16:creationId xmlns:a16="http://schemas.microsoft.com/office/drawing/2014/main" id="{1AAF97BE-4A52-20DC-188F-A2E13F3E8B4A}"/>
              </a:ext>
            </a:extLst>
          </p:cNvPr>
          <p:cNvCxnSpPr>
            <a:cxnSpLocks/>
          </p:cNvCxnSpPr>
          <p:nvPr/>
        </p:nvCxnSpPr>
        <p:spPr>
          <a:xfrm>
            <a:off x="4095908" y="5120976"/>
            <a:ext cx="0" cy="786717"/>
          </a:xfrm>
          <a:prstGeom prst="line">
            <a:avLst/>
          </a:prstGeom>
          <a:ln w="38100">
            <a:solidFill>
              <a:srgbClr val="D53774">
                <a:alpha val="5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Segno di addizione 4">
            <a:extLst>
              <a:ext uri="{FF2B5EF4-FFF2-40B4-BE49-F238E27FC236}">
                <a16:creationId xmlns:a16="http://schemas.microsoft.com/office/drawing/2014/main" id="{154E5ECE-6487-DA55-6010-81E156695C7C}"/>
              </a:ext>
            </a:extLst>
          </p:cNvPr>
          <p:cNvSpPr/>
          <p:nvPr/>
        </p:nvSpPr>
        <p:spPr>
          <a:xfrm>
            <a:off x="5275006" y="3962400"/>
            <a:ext cx="678426" cy="658762"/>
          </a:xfrm>
          <a:prstGeom prst="mathPlus">
            <a:avLst/>
          </a:prstGeom>
          <a:solidFill>
            <a:srgbClr val="E16D53"/>
          </a:solidFill>
          <a:ln>
            <a:solidFill>
              <a:srgbClr val="E16D5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pic>
        <p:nvPicPr>
          <p:cNvPr id="6" name="Picture 20" descr="Python (programming language) - Wikipedia">
            <a:extLst>
              <a:ext uri="{FF2B5EF4-FFF2-40B4-BE49-F238E27FC236}">
                <a16:creationId xmlns:a16="http://schemas.microsoft.com/office/drawing/2014/main" id="{BC9D875B-5BE8-81AD-B841-E0E8620026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12320" y="3974814"/>
            <a:ext cx="646348" cy="6463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CasellaDiTesto 7">
            <a:extLst>
              <a:ext uri="{FF2B5EF4-FFF2-40B4-BE49-F238E27FC236}">
                <a16:creationId xmlns:a16="http://schemas.microsoft.com/office/drawing/2014/main" id="{D16B748F-D28B-5143-A22C-5F2027D3A179}"/>
              </a:ext>
            </a:extLst>
          </p:cNvPr>
          <p:cNvSpPr txBox="1"/>
          <p:nvPr/>
        </p:nvSpPr>
        <p:spPr>
          <a:xfrm>
            <a:off x="7659329" y="4091726"/>
            <a:ext cx="3287951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2400" b="1" i="1" dirty="0" err="1">
                <a:solidFill>
                  <a:srgbClr val="D53774"/>
                </a:solidFill>
              </a:rPr>
              <a:t>speech_metrics</a:t>
            </a:r>
            <a:r>
              <a:rPr lang="it-IT" sz="2400" b="1" i="1" dirty="0">
                <a:solidFill>
                  <a:srgbClr val="D53774"/>
                </a:solidFill>
              </a:rPr>
              <a:t>()</a:t>
            </a:r>
          </a:p>
          <a:p>
            <a:endParaRPr lang="it-IT" sz="1000" b="1" i="1" dirty="0">
              <a:solidFill>
                <a:srgbClr val="D53774"/>
              </a:solidFill>
            </a:endParaRPr>
          </a:p>
          <a:p>
            <a:pPr marL="342900" indent="-342900">
              <a:buFontTx/>
              <a:buChar char="-"/>
            </a:pPr>
            <a:r>
              <a:rPr lang="it-IT" b="1" dirty="0"/>
              <a:t>WPM</a:t>
            </a:r>
            <a:r>
              <a:rPr lang="it-IT" dirty="0"/>
              <a:t> (words per minute)</a:t>
            </a:r>
          </a:p>
          <a:p>
            <a:pPr marL="342900" indent="-342900">
              <a:buFontTx/>
              <a:buChar char="-"/>
            </a:pPr>
            <a:r>
              <a:rPr lang="it-IT" b="1" dirty="0"/>
              <a:t>PAU</a:t>
            </a:r>
            <a:r>
              <a:rPr lang="it-IT" dirty="0"/>
              <a:t> (numero di pause &gt;2s)</a:t>
            </a:r>
          </a:p>
          <a:p>
            <a:pPr marL="342900" indent="-342900">
              <a:buFontTx/>
              <a:buChar char="-"/>
            </a:pPr>
            <a:r>
              <a:rPr lang="it-IT" b="1" dirty="0"/>
              <a:t>SPR</a:t>
            </a:r>
            <a:r>
              <a:rPr lang="it-IT" dirty="0"/>
              <a:t> (rapporto parlato/pause)</a:t>
            </a:r>
          </a:p>
        </p:txBody>
      </p:sp>
    </p:spTree>
    <p:extLst>
      <p:ext uri="{BB962C8B-B14F-4D97-AF65-F5344CB8AC3E}">
        <p14:creationId xmlns:p14="http://schemas.microsoft.com/office/powerpoint/2010/main" val="89894545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8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EE3F4F-DA64-CFC9-1317-E1D5ADE893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FE986AF-F2AF-B680-A9DC-67B108ED6E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910" y="273362"/>
            <a:ext cx="10515600" cy="1325563"/>
          </a:xfrm>
        </p:spPr>
        <p:txBody>
          <a:bodyPr/>
          <a:lstStyle/>
          <a:p>
            <a:r>
              <a:rPr lang="it-IT" i="1" dirty="0">
                <a:solidFill>
                  <a:srgbClr val="E16D53"/>
                </a:solidFill>
                <a:latin typeface="Kermit Extrabold" panose="020F0502020204030204" pitchFamily="34" charset="0"/>
              </a:rPr>
              <a:t>Data Analysis</a:t>
            </a:r>
            <a:endParaRPr lang="it-IT" dirty="0"/>
          </a:p>
        </p:txBody>
      </p:sp>
      <p:pic>
        <p:nvPicPr>
          <p:cNvPr id="3" name="Immagine 2" descr="Cat Loading GIFs | Tenor">
            <a:extLst>
              <a:ext uri="{FF2B5EF4-FFF2-40B4-BE49-F238E27FC236}">
                <a16:creationId xmlns:a16="http://schemas.microsoft.com/office/drawing/2014/main" id="{D7671AEF-CF83-77AE-13DF-BC72F6D1C8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20019" y="193851"/>
            <a:ext cx="1775336" cy="1775336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4" name="Immagine 3">
            <a:extLst>
              <a:ext uri="{FF2B5EF4-FFF2-40B4-BE49-F238E27FC236}">
                <a16:creationId xmlns:a16="http://schemas.microsoft.com/office/drawing/2014/main" id="{9B5AB5C5-1705-C70D-03C8-B0BCE40605BE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958" b="8579"/>
          <a:stretch>
            <a:fillRect/>
          </a:stretch>
        </p:blipFill>
        <p:spPr>
          <a:xfrm>
            <a:off x="10289512" y="6235458"/>
            <a:ext cx="1902488" cy="698360"/>
          </a:xfrm>
          <a:prstGeom prst="rect">
            <a:avLst/>
          </a:prstGeom>
        </p:spPr>
      </p:pic>
      <p:pic>
        <p:nvPicPr>
          <p:cNvPr id="9" name="Immagine 8">
            <a:extLst>
              <a:ext uri="{FF2B5EF4-FFF2-40B4-BE49-F238E27FC236}">
                <a16:creationId xmlns:a16="http://schemas.microsoft.com/office/drawing/2014/main" id="{3C82B21B-B277-4DAC-BB59-A9C8F3A3C3E8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50000"/>
          </a:blip>
          <a:stretch>
            <a:fillRect/>
          </a:stretch>
        </p:blipFill>
        <p:spPr>
          <a:xfrm>
            <a:off x="7140129" y="1598925"/>
            <a:ext cx="2153537" cy="1117211"/>
          </a:xfrm>
          <a:prstGeom prst="rect">
            <a:avLst/>
          </a:prstGeom>
        </p:spPr>
      </p:pic>
      <p:cxnSp>
        <p:nvCxnSpPr>
          <p:cNvPr id="10" name="Connettore 2 9">
            <a:extLst>
              <a:ext uri="{FF2B5EF4-FFF2-40B4-BE49-F238E27FC236}">
                <a16:creationId xmlns:a16="http://schemas.microsoft.com/office/drawing/2014/main" id="{B3B9180C-FD06-4E0E-B2E3-FC08D8D9734C}"/>
              </a:ext>
            </a:extLst>
          </p:cNvPr>
          <p:cNvCxnSpPr>
            <a:cxnSpLocks/>
          </p:cNvCxnSpPr>
          <p:nvPr/>
        </p:nvCxnSpPr>
        <p:spPr>
          <a:xfrm flipH="1">
            <a:off x="6303784" y="3046901"/>
            <a:ext cx="1925129" cy="381951"/>
          </a:xfrm>
          <a:prstGeom prst="straightConnector1">
            <a:avLst/>
          </a:prstGeom>
          <a:ln w="38100" cap="flat" cmpd="sng" algn="ctr">
            <a:solidFill>
              <a:srgbClr val="D53774"/>
            </a:solidFill>
            <a:prstDash val="dash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pic>
        <p:nvPicPr>
          <p:cNvPr id="11" name="Picture 20" descr="Python (programming language) - Wikipedia">
            <a:extLst>
              <a:ext uri="{FF2B5EF4-FFF2-40B4-BE49-F238E27FC236}">
                <a16:creationId xmlns:a16="http://schemas.microsoft.com/office/drawing/2014/main" id="{1C0B3E26-9CEA-1962-DDAA-8ADE2DADD7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29187" y="3782528"/>
            <a:ext cx="646348" cy="6463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CasellaDiTesto 11">
            <a:extLst>
              <a:ext uri="{FF2B5EF4-FFF2-40B4-BE49-F238E27FC236}">
                <a16:creationId xmlns:a16="http://schemas.microsoft.com/office/drawing/2014/main" id="{AE8354E6-0F85-7214-9D5F-A93D2C720AA5}"/>
              </a:ext>
            </a:extLst>
          </p:cNvPr>
          <p:cNvSpPr txBox="1"/>
          <p:nvPr/>
        </p:nvSpPr>
        <p:spPr>
          <a:xfrm>
            <a:off x="5240226" y="3198019"/>
            <a:ext cx="68320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2400" b="1" dirty="0"/>
              <a:t>PDF</a:t>
            </a:r>
          </a:p>
        </p:txBody>
      </p:sp>
      <p:sp>
        <p:nvSpPr>
          <p:cNvPr id="13" name="CasellaDiTesto 12">
            <a:extLst>
              <a:ext uri="{FF2B5EF4-FFF2-40B4-BE49-F238E27FC236}">
                <a16:creationId xmlns:a16="http://schemas.microsoft.com/office/drawing/2014/main" id="{72AAF6C8-8120-8406-10A7-CDDD52CF3542}"/>
              </a:ext>
            </a:extLst>
          </p:cNvPr>
          <p:cNvSpPr txBox="1"/>
          <p:nvPr/>
        </p:nvSpPr>
        <p:spPr>
          <a:xfrm>
            <a:off x="5240226" y="4487516"/>
            <a:ext cx="84337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2000" dirty="0" err="1">
                <a:solidFill>
                  <a:srgbClr val="C00000"/>
                </a:solidFill>
              </a:rPr>
              <a:t>PyPDF</a:t>
            </a:r>
            <a:endParaRPr lang="it-IT" sz="2000" dirty="0">
              <a:solidFill>
                <a:srgbClr val="C00000"/>
              </a:solidFill>
            </a:endParaRPr>
          </a:p>
        </p:txBody>
      </p:sp>
      <p:cxnSp>
        <p:nvCxnSpPr>
          <p:cNvPr id="14" name="Connettore diritto 13">
            <a:extLst>
              <a:ext uri="{FF2B5EF4-FFF2-40B4-BE49-F238E27FC236}">
                <a16:creationId xmlns:a16="http://schemas.microsoft.com/office/drawing/2014/main" id="{5FC8D66E-7B7B-0C5B-4102-5090B936C9CA}"/>
              </a:ext>
            </a:extLst>
          </p:cNvPr>
          <p:cNvCxnSpPr>
            <a:cxnSpLocks/>
            <a:stCxn id="9" idx="2"/>
          </p:cNvCxnSpPr>
          <p:nvPr/>
        </p:nvCxnSpPr>
        <p:spPr>
          <a:xfrm>
            <a:off x="8216898" y="2716136"/>
            <a:ext cx="0" cy="325671"/>
          </a:xfrm>
          <a:prstGeom prst="line">
            <a:avLst/>
          </a:prstGeom>
          <a:ln w="38100">
            <a:solidFill>
              <a:srgbClr val="D53774">
                <a:alpha val="5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nettore diritto 14">
            <a:extLst>
              <a:ext uri="{FF2B5EF4-FFF2-40B4-BE49-F238E27FC236}">
                <a16:creationId xmlns:a16="http://schemas.microsoft.com/office/drawing/2014/main" id="{5D7FD8B4-4EE1-D15E-4FD0-59E10AB59300}"/>
              </a:ext>
            </a:extLst>
          </p:cNvPr>
          <p:cNvCxnSpPr>
            <a:cxnSpLocks/>
          </p:cNvCxnSpPr>
          <p:nvPr/>
        </p:nvCxnSpPr>
        <p:spPr>
          <a:xfrm>
            <a:off x="5626098" y="5041465"/>
            <a:ext cx="0" cy="786717"/>
          </a:xfrm>
          <a:prstGeom prst="line">
            <a:avLst/>
          </a:prstGeom>
          <a:ln w="38100">
            <a:solidFill>
              <a:srgbClr val="D53774">
                <a:alpha val="50000"/>
              </a:srgb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onnettore 2 17">
            <a:extLst>
              <a:ext uri="{FF2B5EF4-FFF2-40B4-BE49-F238E27FC236}">
                <a16:creationId xmlns:a16="http://schemas.microsoft.com/office/drawing/2014/main" id="{2284971B-4B29-856F-82AE-AFAFFCF50900}"/>
              </a:ext>
            </a:extLst>
          </p:cNvPr>
          <p:cNvCxnSpPr>
            <a:cxnSpLocks/>
          </p:cNvCxnSpPr>
          <p:nvPr/>
        </p:nvCxnSpPr>
        <p:spPr>
          <a:xfrm flipH="1">
            <a:off x="3571019" y="4129548"/>
            <a:ext cx="1332528" cy="0"/>
          </a:xfrm>
          <a:prstGeom prst="straightConnector1">
            <a:avLst/>
          </a:prstGeom>
          <a:ln w="38100" cap="flat" cmpd="sng" algn="ctr">
            <a:solidFill>
              <a:srgbClr val="D53774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pic>
        <p:nvPicPr>
          <p:cNvPr id="21" name="Picture 12" descr="The Best Way to Embed Elasticsearch">
            <a:extLst>
              <a:ext uri="{FF2B5EF4-FFF2-40B4-BE49-F238E27FC236}">
                <a16:creationId xmlns:a16="http://schemas.microsoft.com/office/drawing/2014/main" id="{4E3A8CD6-9302-14B5-8DD1-48636F3B12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1388" y="3421961"/>
            <a:ext cx="2429631" cy="16195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2" name="CasellaDiTesto 21">
            <a:extLst>
              <a:ext uri="{FF2B5EF4-FFF2-40B4-BE49-F238E27FC236}">
                <a16:creationId xmlns:a16="http://schemas.microsoft.com/office/drawing/2014/main" id="{2644262C-CC66-DC72-7C9B-17A0416A1794}"/>
              </a:ext>
            </a:extLst>
          </p:cNvPr>
          <p:cNvSpPr txBox="1"/>
          <p:nvPr/>
        </p:nvSpPr>
        <p:spPr>
          <a:xfrm>
            <a:off x="1565675" y="4872188"/>
            <a:ext cx="158105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600" dirty="0"/>
              <a:t>‘</a:t>
            </a:r>
            <a:r>
              <a:rPr lang="it-IT" sz="1600" dirty="0" err="1"/>
              <a:t>student-pdfs</a:t>
            </a:r>
            <a:r>
              <a:rPr lang="it-IT" sz="1600" dirty="0"/>
              <a:t>’</a:t>
            </a:r>
          </a:p>
        </p:txBody>
      </p:sp>
      <p:sp>
        <p:nvSpPr>
          <p:cNvPr id="23" name="CasellaDiTesto 22">
            <a:extLst>
              <a:ext uri="{FF2B5EF4-FFF2-40B4-BE49-F238E27FC236}">
                <a16:creationId xmlns:a16="http://schemas.microsoft.com/office/drawing/2014/main" id="{9258A8AB-C31E-75EE-01F1-5CA49BA67A87}"/>
              </a:ext>
            </a:extLst>
          </p:cNvPr>
          <p:cNvSpPr txBox="1"/>
          <p:nvPr/>
        </p:nvSpPr>
        <p:spPr>
          <a:xfrm>
            <a:off x="1280212" y="5322141"/>
            <a:ext cx="3623335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400" dirty="0">
                <a:solidFill>
                  <a:schemeClr val="bg1">
                    <a:lumMod val="75000"/>
                  </a:schemeClr>
                </a:solidFill>
              </a:rPr>
              <a:t>index="</a:t>
            </a:r>
            <a:r>
              <a:rPr lang="it-IT" sz="1400" dirty="0" err="1">
                <a:solidFill>
                  <a:schemeClr val="bg1">
                    <a:lumMod val="75000"/>
                  </a:schemeClr>
                </a:solidFill>
              </a:rPr>
              <a:t>student-pdfs</a:t>
            </a:r>
            <a:r>
              <a:rPr lang="it-IT" sz="1400" dirty="0">
                <a:solidFill>
                  <a:schemeClr val="bg1">
                    <a:lumMod val="75000"/>
                  </a:schemeClr>
                </a:solidFill>
              </a:rPr>
              <a:t>", id=</a:t>
            </a:r>
            <a:r>
              <a:rPr lang="it-IT" sz="1400" dirty="0" err="1">
                <a:solidFill>
                  <a:schemeClr val="bg1">
                    <a:lumMod val="75000"/>
                  </a:schemeClr>
                </a:solidFill>
              </a:rPr>
              <a:t>pdf_id</a:t>
            </a:r>
            <a:r>
              <a:rPr lang="it-IT" sz="1400" dirty="0">
                <a:solidFill>
                  <a:schemeClr val="bg1">
                    <a:lumMod val="75000"/>
                  </a:schemeClr>
                </a:solidFill>
              </a:rPr>
              <a:t>, </a:t>
            </a:r>
          </a:p>
          <a:p>
            <a:r>
              <a:rPr lang="it-IT" sz="1400" dirty="0">
                <a:solidFill>
                  <a:schemeClr val="bg1">
                    <a:lumMod val="75000"/>
                  </a:schemeClr>
                </a:solidFill>
              </a:rPr>
              <a:t>		</a:t>
            </a:r>
            <a:r>
              <a:rPr lang="it-IT" sz="1400" dirty="0" err="1">
                <a:solidFill>
                  <a:schemeClr val="bg1">
                    <a:lumMod val="75000"/>
                  </a:schemeClr>
                </a:solidFill>
              </a:rPr>
              <a:t>document</a:t>
            </a:r>
            <a:r>
              <a:rPr lang="it-IT" sz="1400" dirty="0">
                <a:solidFill>
                  <a:schemeClr val="bg1">
                    <a:lumMod val="75000"/>
                  </a:schemeClr>
                </a:solidFill>
              </a:rPr>
              <a:t>={</a:t>
            </a:r>
          </a:p>
          <a:p>
            <a:pPr lvl="1"/>
            <a:r>
              <a:rPr lang="it-IT" sz="1400" dirty="0">
                <a:solidFill>
                  <a:schemeClr val="bg1">
                    <a:lumMod val="75000"/>
                  </a:schemeClr>
                </a:solidFill>
              </a:rPr>
              <a:t>                "</a:t>
            </a:r>
            <a:r>
              <a:rPr lang="it-IT" sz="1400" dirty="0" err="1">
                <a:solidFill>
                  <a:schemeClr val="bg1">
                    <a:lumMod val="75000"/>
                  </a:schemeClr>
                </a:solidFill>
              </a:rPr>
              <a:t>user_id</a:t>
            </a:r>
            <a:r>
              <a:rPr lang="it-IT" sz="1400" dirty="0">
                <a:solidFill>
                  <a:schemeClr val="bg1">
                    <a:lumMod val="75000"/>
                  </a:schemeClr>
                </a:solidFill>
              </a:rPr>
              <a:t>": …,</a:t>
            </a:r>
          </a:p>
          <a:p>
            <a:pPr lvl="1"/>
            <a:r>
              <a:rPr lang="it-IT" sz="1400" dirty="0">
                <a:solidFill>
                  <a:schemeClr val="bg1">
                    <a:lumMod val="75000"/>
                  </a:schemeClr>
                </a:solidFill>
              </a:rPr>
              <a:t>                "</a:t>
            </a:r>
            <a:r>
              <a:rPr lang="it-IT" sz="1400" dirty="0" err="1">
                <a:solidFill>
                  <a:schemeClr val="bg1">
                    <a:lumMod val="75000"/>
                  </a:schemeClr>
                </a:solidFill>
              </a:rPr>
              <a:t>topic</a:t>
            </a:r>
            <a:r>
              <a:rPr lang="it-IT" sz="1400" dirty="0">
                <a:solidFill>
                  <a:schemeClr val="bg1">
                    <a:lumMod val="75000"/>
                  </a:schemeClr>
                </a:solidFill>
              </a:rPr>
              <a:t>": …,</a:t>
            </a:r>
          </a:p>
          <a:p>
            <a:pPr lvl="1"/>
            <a:r>
              <a:rPr lang="it-IT" sz="1400" dirty="0">
                <a:solidFill>
                  <a:schemeClr val="bg1">
                    <a:lumMod val="75000"/>
                  </a:schemeClr>
                </a:solidFill>
              </a:rPr>
              <a:t>                "text: …   }</a:t>
            </a:r>
          </a:p>
        </p:txBody>
      </p:sp>
    </p:spTree>
    <p:extLst>
      <p:ext uri="{BB962C8B-B14F-4D97-AF65-F5344CB8AC3E}">
        <p14:creationId xmlns:p14="http://schemas.microsoft.com/office/powerpoint/2010/main" val="25660554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2B67ED-F008-2F6A-3FBB-7BD05D9836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7152569-D863-6962-206A-22783C41AF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910" y="273362"/>
            <a:ext cx="10515600" cy="1325563"/>
          </a:xfrm>
        </p:spPr>
        <p:txBody>
          <a:bodyPr/>
          <a:lstStyle/>
          <a:p>
            <a:r>
              <a:rPr lang="it-IT" i="1" dirty="0">
                <a:solidFill>
                  <a:srgbClr val="E16D53"/>
                </a:solidFill>
                <a:latin typeface="Kermit Extrabold" panose="020F0502020204030204" pitchFamily="34" charset="0"/>
              </a:rPr>
              <a:t>Data </a:t>
            </a:r>
            <a:r>
              <a:rPr lang="it-IT" i="1" dirty="0" err="1">
                <a:solidFill>
                  <a:srgbClr val="E16D53"/>
                </a:solidFill>
                <a:latin typeface="Kermit Extrabold" panose="020F0502020204030204" pitchFamily="34" charset="0"/>
              </a:rPr>
              <a:t>Indexing</a:t>
            </a:r>
            <a:endParaRPr lang="it-IT" dirty="0"/>
          </a:p>
        </p:txBody>
      </p:sp>
      <p:pic>
        <p:nvPicPr>
          <p:cNvPr id="3" name="Immagine 2">
            <a:extLst>
              <a:ext uri="{FF2B5EF4-FFF2-40B4-BE49-F238E27FC236}">
                <a16:creationId xmlns:a16="http://schemas.microsoft.com/office/drawing/2014/main" id="{F31816D1-EF71-B493-FE7A-593D6DBC4F5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220019" y="254633"/>
            <a:ext cx="1775336" cy="1653772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4" name="Immagine 3">
            <a:extLst>
              <a:ext uri="{FF2B5EF4-FFF2-40B4-BE49-F238E27FC236}">
                <a16:creationId xmlns:a16="http://schemas.microsoft.com/office/drawing/2014/main" id="{E5A60ACC-739E-2B37-5A80-828D2B9571B6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958" b="8579"/>
          <a:stretch>
            <a:fillRect/>
          </a:stretch>
        </p:blipFill>
        <p:spPr>
          <a:xfrm>
            <a:off x="10289512" y="6235458"/>
            <a:ext cx="1902488" cy="698360"/>
          </a:xfrm>
          <a:prstGeom prst="rect">
            <a:avLst/>
          </a:prstGeom>
        </p:spPr>
      </p:pic>
      <p:cxnSp>
        <p:nvCxnSpPr>
          <p:cNvPr id="5" name="Connettore diritto 4">
            <a:extLst>
              <a:ext uri="{FF2B5EF4-FFF2-40B4-BE49-F238E27FC236}">
                <a16:creationId xmlns:a16="http://schemas.microsoft.com/office/drawing/2014/main" id="{F0984638-19D5-3DA7-AB2E-ED60AF0567D5}"/>
              </a:ext>
            </a:extLst>
          </p:cNvPr>
          <p:cNvCxnSpPr>
            <a:cxnSpLocks/>
          </p:cNvCxnSpPr>
          <p:nvPr/>
        </p:nvCxnSpPr>
        <p:spPr>
          <a:xfrm>
            <a:off x="3499384" y="1523864"/>
            <a:ext cx="0" cy="786717"/>
          </a:xfrm>
          <a:prstGeom prst="line">
            <a:avLst/>
          </a:prstGeom>
          <a:ln w="38100">
            <a:solidFill>
              <a:srgbClr val="D5377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Connettore 2 5">
            <a:extLst>
              <a:ext uri="{FF2B5EF4-FFF2-40B4-BE49-F238E27FC236}">
                <a16:creationId xmlns:a16="http://schemas.microsoft.com/office/drawing/2014/main" id="{B2EE50BC-173C-ADA3-3A07-0D92036F7B66}"/>
              </a:ext>
            </a:extLst>
          </p:cNvPr>
          <p:cNvCxnSpPr>
            <a:cxnSpLocks/>
          </p:cNvCxnSpPr>
          <p:nvPr/>
        </p:nvCxnSpPr>
        <p:spPr>
          <a:xfrm>
            <a:off x="3499384" y="2293056"/>
            <a:ext cx="1514031" cy="190976"/>
          </a:xfrm>
          <a:prstGeom prst="straightConnector1">
            <a:avLst/>
          </a:prstGeom>
          <a:ln w="38100" cap="flat" cmpd="sng" algn="ctr">
            <a:solidFill>
              <a:srgbClr val="D53774"/>
            </a:solidFill>
            <a:prstDash val="dash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pic>
        <p:nvPicPr>
          <p:cNvPr id="7" name="Picture 18" descr="Finetune Llama 3.1 with Unsloth">
            <a:extLst>
              <a:ext uri="{FF2B5EF4-FFF2-40B4-BE49-F238E27FC236}">
                <a16:creationId xmlns:a16="http://schemas.microsoft.com/office/drawing/2014/main" id="{C0504A92-0A88-8DCA-A710-2F415608FC3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109" t="11582" r="7244" b="32373"/>
          <a:stretch>
            <a:fillRect/>
          </a:stretch>
        </p:blipFill>
        <p:spPr bwMode="auto">
          <a:xfrm>
            <a:off x="5186918" y="2083493"/>
            <a:ext cx="1818164" cy="8010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8" name="Connettore diritto 7">
            <a:extLst>
              <a:ext uri="{FF2B5EF4-FFF2-40B4-BE49-F238E27FC236}">
                <a16:creationId xmlns:a16="http://schemas.microsoft.com/office/drawing/2014/main" id="{5C070054-E60D-6DFF-CA52-2A1BE7405493}"/>
              </a:ext>
            </a:extLst>
          </p:cNvPr>
          <p:cNvCxnSpPr>
            <a:cxnSpLocks/>
          </p:cNvCxnSpPr>
          <p:nvPr/>
        </p:nvCxnSpPr>
        <p:spPr>
          <a:xfrm>
            <a:off x="8773116" y="1523864"/>
            <a:ext cx="0" cy="786717"/>
          </a:xfrm>
          <a:prstGeom prst="line">
            <a:avLst/>
          </a:prstGeom>
          <a:ln w="38100">
            <a:solidFill>
              <a:srgbClr val="D5377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nettore 2 15">
            <a:extLst>
              <a:ext uri="{FF2B5EF4-FFF2-40B4-BE49-F238E27FC236}">
                <a16:creationId xmlns:a16="http://schemas.microsoft.com/office/drawing/2014/main" id="{273C8F96-AA85-36FC-84AA-7A091E38133F}"/>
              </a:ext>
            </a:extLst>
          </p:cNvPr>
          <p:cNvCxnSpPr>
            <a:cxnSpLocks/>
          </p:cNvCxnSpPr>
          <p:nvPr/>
        </p:nvCxnSpPr>
        <p:spPr>
          <a:xfrm flipH="1">
            <a:off x="7270312" y="2310581"/>
            <a:ext cx="1514031" cy="190976"/>
          </a:xfrm>
          <a:prstGeom prst="straightConnector1">
            <a:avLst/>
          </a:prstGeom>
          <a:ln w="38100" cap="flat" cmpd="sng" algn="ctr">
            <a:solidFill>
              <a:srgbClr val="D53774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7" name="Connettore 2 16">
            <a:extLst>
              <a:ext uri="{FF2B5EF4-FFF2-40B4-BE49-F238E27FC236}">
                <a16:creationId xmlns:a16="http://schemas.microsoft.com/office/drawing/2014/main" id="{5CB08D20-3D24-D444-5CAD-327B823A7CFF}"/>
              </a:ext>
            </a:extLst>
          </p:cNvPr>
          <p:cNvCxnSpPr>
            <a:cxnSpLocks/>
          </p:cNvCxnSpPr>
          <p:nvPr/>
        </p:nvCxnSpPr>
        <p:spPr>
          <a:xfrm>
            <a:off x="6096000" y="3016045"/>
            <a:ext cx="0" cy="825909"/>
          </a:xfrm>
          <a:prstGeom prst="straightConnector1">
            <a:avLst/>
          </a:prstGeom>
          <a:ln w="38100" cap="flat" cmpd="sng" algn="ctr">
            <a:solidFill>
              <a:srgbClr val="D53774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pic>
        <p:nvPicPr>
          <p:cNvPr id="24" name="Picture 12" descr="The Best Way to Embed Elasticsearch">
            <a:extLst>
              <a:ext uri="{FF2B5EF4-FFF2-40B4-BE49-F238E27FC236}">
                <a16:creationId xmlns:a16="http://schemas.microsoft.com/office/drawing/2014/main" id="{F5D2BFBA-DDE5-E8F0-C633-AB7B207393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76713" y="3919948"/>
            <a:ext cx="2638574" cy="17587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6" name="CasellaDiTesto 25">
            <a:extLst>
              <a:ext uri="{FF2B5EF4-FFF2-40B4-BE49-F238E27FC236}">
                <a16:creationId xmlns:a16="http://schemas.microsoft.com/office/drawing/2014/main" id="{8023CD1C-16C1-B50E-8A44-F6C2F43CDFD4}"/>
              </a:ext>
            </a:extLst>
          </p:cNvPr>
          <p:cNvSpPr txBox="1"/>
          <p:nvPr/>
        </p:nvSpPr>
        <p:spPr>
          <a:xfrm>
            <a:off x="5270091" y="5494060"/>
            <a:ext cx="165181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1800" dirty="0"/>
              <a:t>‘</a:t>
            </a:r>
            <a:r>
              <a:rPr lang="it-IT" sz="1800" dirty="0" err="1"/>
              <a:t>thesis-analysis</a:t>
            </a:r>
            <a:r>
              <a:rPr lang="it-IT" sz="1800" dirty="0"/>
              <a:t>’</a:t>
            </a:r>
          </a:p>
        </p:txBody>
      </p:sp>
    </p:spTree>
    <p:extLst>
      <p:ext uri="{BB962C8B-B14F-4D97-AF65-F5344CB8AC3E}">
        <p14:creationId xmlns:p14="http://schemas.microsoft.com/office/powerpoint/2010/main" val="372616087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2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75A179-BE16-1CEF-2671-BC07673B4D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2D92488-76C1-F903-B9DC-DF1CF387CD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910" y="273362"/>
            <a:ext cx="10515600" cy="1325563"/>
          </a:xfrm>
        </p:spPr>
        <p:txBody>
          <a:bodyPr/>
          <a:lstStyle/>
          <a:p>
            <a:r>
              <a:rPr lang="it-IT" i="1" dirty="0">
                <a:solidFill>
                  <a:srgbClr val="E16D53"/>
                </a:solidFill>
                <a:latin typeface="Kermit Extrabold" panose="020F0502020204030204" pitchFamily="34" charset="0"/>
              </a:rPr>
              <a:t>Data </a:t>
            </a:r>
            <a:r>
              <a:rPr lang="it-IT" i="1" dirty="0" err="1">
                <a:solidFill>
                  <a:srgbClr val="E16D53"/>
                </a:solidFill>
                <a:latin typeface="Kermit Extrabold" panose="020F0502020204030204" pitchFamily="34" charset="0"/>
              </a:rPr>
              <a:t>Visualization</a:t>
            </a:r>
            <a:endParaRPr lang="it-IT" dirty="0"/>
          </a:p>
        </p:txBody>
      </p:sp>
      <p:pic>
        <p:nvPicPr>
          <p:cNvPr id="3" name="Immagine 2">
            <a:extLst>
              <a:ext uri="{FF2B5EF4-FFF2-40B4-BE49-F238E27FC236}">
                <a16:creationId xmlns:a16="http://schemas.microsoft.com/office/drawing/2014/main" id="{D695E18D-24FF-01F2-7322-705670515D5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267972" y="254633"/>
            <a:ext cx="1679429" cy="1653772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4" name="Immagine 3">
            <a:extLst>
              <a:ext uri="{FF2B5EF4-FFF2-40B4-BE49-F238E27FC236}">
                <a16:creationId xmlns:a16="http://schemas.microsoft.com/office/drawing/2014/main" id="{37B6B6BB-8412-0663-194C-451C41832E65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958" b="8579"/>
          <a:stretch>
            <a:fillRect/>
          </a:stretch>
        </p:blipFill>
        <p:spPr>
          <a:xfrm>
            <a:off x="10289512" y="6235458"/>
            <a:ext cx="1902488" cy="698360"/>
          </a:xfrm>
          <a:prstGeom prst="rect">
            <a:avLst/>
          </a:prstGeom>
        </p:spPr>
      </p:pic>
      <p:pic>
        <p:nvPicPr>
          <p:cNvPr id="24" name="Picture 12" descr="The Best Way to Embed Elasticsearch">
            <a:extLst>
              <a:ext uri="{FF2B5EF4-FFF2-40B4-BE49-F238E27FC236}">
                <a16:creationId xmlns:a16="http://schemas.microsoft.com/office/drawing/2014/main" id="{5B94FC25-EA0A-25B6-B47C-853634F3F69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600" t="12895" r="7734" b="19068"/>
          <a:stretch>
            <a:fillRect/>
          </a:stretch>
        </p:blipFill>
        <p:spPr bwMode="auto">
          <a:xfrm>
            <a:off x="7786763" y="2178914"/>
            <a:ext cx="2207583" cy="11966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6" name="CasellaDiTesto 25">
            <a:extLst>
              <a:ext uri="{FF2B5EF4-FFF2-40B4-BE49-F238E27FC236}">
                <a16:creationId xmlns:a16="http://schemas.microsoft.com/office/drawing/2014/main" id="{365E23FB-3AD3-74E3-10C2-A274140CAB66}"/>
              </a:ext>
            </a:extLst>
          </p:cNvPr>
          <p:cNvSpPr txBox="1"/>
          <p:nvPr/>
        </p:nvSpPr>
        <p:spPr>
          <a:xfrm>
            <a:off x="8053195" y="3375548"/>
            <a:ext cx="165181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1600" dirty="0">
                <a:solidFill>
                  <a:schemeClr val="bg1">
                    <a:lumMod val="65000"/>
                  </a:schemeClr>
                </a:solidFill>
              </a:rPr>
              <a:t>‘</a:t>
            </a:r>
            <a:r>
              <a:rPr lang="it-IT" sz="1600" dirty="0" err="1">
                <a:solidFill>
                  <a:schemeClr val="bg1">
                    <a:lumMod val="65000"/>
                  </a:schemeClr>
                </a:solidFill>
              </a:rPr>
              <a:t>thesis-analysis</a:t>
            </a:r>
            <a:r>
              <a:rPr lang="it-IT" sz="1600" dirty="0">
                <a:solidFill>
                  <a:schemeClr val="bg1">
                    <a:lumMod val="65000"/>
                  </a:schemeClr>
                </a:solidFill>
              </a:rPr>
              <a:t>’</a:t>
            </a:r>
          </a:p>
        </p:txBody>
      </p:sp>
      <p:pic>
        <p:nvPicPr>
          <p:cNvPr id="11" name="Picture 14" descr="A cosa serve Kibana? - Flowygo">
            <a:extLst>
              <a:ext uri="{FF2B5EF4-FFF2-40B4-BE49-F238E27FC236}">
                <a16:creationId xmlns:a16="http://schemas.microsoft.com/office/drawing/2014/main" id="{FAD92EDC-5523-76C0-DA26-0455AF01623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53195" y="4794786"/>
            <a:ext cx="1791387" cy="11351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Immagine 13">
            <a:extLst>
              <a:ext uri="{FF2B5EF4-FFF2-40B4-BE49-F238E27FC236}">
                <a16:creationId xmlns:a16="http://schemas.microsoft.com/office/drawing/2014/main" id="{604B79B1-4868-EB88-24EC-F6B4F17B7B21}"/>
              </a:ext>
            </a:extLst>
          </p:cNvPr>
          <p:cNvPicPr>
            <a:picLocks noChangeAspect="1"/>
          </p:cNvPicPr>
          <p:nvPr/>
        </p:nvPicPr>
        <p:blipFill>
          <a:blip r:embed="rId6">
            <a:alphaModFix amt="50000"/>
          </a:blip>
          <a:stretch>
            <a:fillRect/>
          </a:stretch>
        </p:blipFill>
        <p:spPr>
          <a:xfrm>
            <a:off x="5583047" y="1149245"/>
            <a:ext cx="1098056" cy="569649"/>
          </a:xfrm>
          <a:prstGeom prst="rect">
            <a:avLst/>
          </a:prstGeom>
        </p:spPr>
      </p:pic>
      <p:cxnSp>
        <p:nvCxnSpPr>
          <p:cNvPr id="15" name="Connettore 2 14">
            <a:extLst>
              <a:ext uri="{FF2B5EF4-FFF2-40B4-BE49-F238E27FC236}">
                <a16:creationId xmlns:a16="http://schemas.microsoft.com/office/drawing/2014/main" id="{D3E1315D-687B-F2D4-B050-B72D81808143}"/>
              </a:ext>
            </a:extLst>
          </p:cNvPr>
          <p:cNvCxnSpPr>
            <a:cxnSpLocks/>
          </p:cNvCxnSpPr>
          <p:nvPr/>
        </p:nvCxnSpPr>
        <p:spPr>
          <a:xfrm>
            <a:off x="6144090" y="2184009"/>
            <a:ext cx="1925129" cy="381951"/>
          </a:xfrm>
          <a:prstGeom prst="straightConnector1">
            <a:avLst/>
          </a:prstGeom>
          <a:ln w="38100" cap="flat" cmpd="sng" algn="ctr">
            <a:solidFill>
              <a:srgbClr val="D53774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8" name="Connettore 2 17">
            <a:extLst>
              <a:ext uri="{FF2B5EF4-FFF2-40B4-BE49-F238E27FC236}">
                <a16:creationId xmlns:a16="http://schemas.microsoft.com/office/drawing/2014/main" id="{8EE6F627-2FF3-4A2E-4D5C-C10A1F79E5F3}"/>
              </a:ext>
            </a:extLst>
          </p:cNvPr>
          <p:cNvCxnSpPr>
            <a:cxnSpLocks/>
          </p:cNvCxnSpPr>
          <p:nvPr/>
        </p:nvCxnSpPr>
        <p:spPr>
          <a:xfrm flipH="1">
            <a:off x="4218961" y="2184009"/>
            <a:ext cx="1925129" cy="381951"/>
          </a:xfrm>
          <a:prstGeom prst="straightConnector1">
            <a:avLst/>
          </a:prstGeom>
          <a:ln w="38100" cap="flat" cmpd="sng" algn="ctr">
            <a:solidFill>
              <a:srgbClr val="D53774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9" name="Connettore diritto 18">
            <a:extLst>
              <a:ext uri="{FF2B5EF4-FFF2-40B4-BE49-F238E27FC236}">
                <a16:creationId xmlns:a16="http://schemas.microsoft.com/office/drawing/2014/main" id="{0C4D3D53-62B4-F51A-DD9C-6F4966E22E70}"/>
              </a:ext>
            </a:extLst>
          </p:cNvPr>
          <p:cNvCxnSpPr>
            <a:cxnSpLocks/>
          </p:cNvCxnSpPr>
          <p:nvPr/>
        </p:nvCxnSpPr>
        <p:spPr>
          <a:xfrm>
            <a:off x="6132075" y="1818968"/>
            <a:ext cx="0" cy="359947"/>
          </a:xfrm>
          <a:prstGeom prst="line">
            <a:avLst/>
          </a:prstGeom>
          <a:ln w="38100">
            <a:solidFill>
              <a:srgbClr val="D5377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3" name="Picture 2">
            <a:extLst>
              <a:ext uri="{FF2B5EF4-FFF2-40B4-BE49-F238E27FC236}">
                <a16:creationId xmlns:a16="http://schemas.microsoft.com/office/drawing/2014/main" id="{DC7C3953-3860-5F57-2656-E0A5DE47AA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24872" y="2394923"/>
            <a:ext cx="717479" cy="7174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27" name="Connettore 2 26">
            <a:extLst>
              <a:ext uri="{FF2B5EF4-FFF2-40B4-BE49-F238E27FC236}">
                <a16:creationId xmlns:a16="http://schemas.microsoft.com/office/drawing/2014/main" id="{0DDE57D2-6953-2EC2-5C13-BE9543EF1EC2}"/>
              </a:ext>
            </a:extLst>
          </p:cNvPr>
          <p:cNvCxnSpPr>
            <a:cxnSpLocks/>
          </p:cNvCxnSpPr>
          <p:nvPr/>
        </p:nvCxnSpPr>
        <p:spPr>
          <a:xfrm>
            <a:off x="8879104" y="3789404"/>
            <a:ext cx="11450" cy="930080"/>
          </a:xfrm>
          <a:prstGeom prst="straightConnector1">
            <a:avLst/>
          </a:prstGeom>
          <a:ln w="38100" cap="flat" cmpd="sng" algn="ctr">
            <a:solidFill>
              <a:srgbClr val="D53774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0" name="Connettore 2 29">
            <a:extLst>
              <a:ext uri="{FF2B5EF4-FFF2-40B4-BE49-F238E27FC236}">
                <a16:creationId xmlns:a16="http://schemas.microsoft.com/office/drawing/2014/main" id="{E5D953DD-E354-64CC-56A7-FDBF8E906441}"/>
              </a:ext>
            </a:extLst>
          </p:cNvPr>
          <p:cNvCxnSpPr>
            <a:cxnSpLocks/>
          </p:cNvCxnSpPr>
          <p:nvPr/>
        </p:nvCxnSpPr>
        <p:spPr>
          <a:xfrm rot="10800000" flipV="1">
            <a:off x="3059337" y="3280558"/>
            <a:ext cx="512825" cy="508845"/>
          </a:xfrm>
          <a:prstGeom prst="bentConnector3">
            <a:avLst>
              <a:gd name="adj1" fmla="val 2068"/>
            </a:avLst>
          </a:prstGeom>
          <a:ln w="38100" cap="flat" cmpd="sng" algn="ctr">
            <a:solidFill>
              <a:srgbClr val="D53774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pic>
        <p:nvPicPr>
          <p:cNvPr id="32" name="Immagine 31">
            <a:extLst>
              <a:ext uri="{FF2B5EF4-FFF2-40B4-BE49-F238E27FC236}">
                <a16:creationId xmlns:a16="http://schemas.microsoft.com/office/drawing/2014/main" id="{F115B51E-B2D1-E447-6726-48B7BC8AD965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9844" y="2178914"/>
            <a:ext cx="2646817" cy="43476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54441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5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2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500"/>
                            </p:stCondLst>
                            <p:childTnLst>
                              <p:par>
                                <p:cTn id="12" presetID="10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4C4711-C21A-7E2E-D7B1-5ACD3B0810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59BF271-DB0D-2C8E-FD2D-9006D41CB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910" y="273362"/>
            <a:ext cx="10515600" cy="1325563"/>
          </a:xfrm>
        </p:spPr>
        <p:txBody>
          <a:bodyPr/>
          <a:lstStyle/>
          <a:p>
            <a:r>
              <a:rPr lang="it-IT" i="1" dirty="0">
                <a:solidFill>
                  <a:srgbClr val="E16D53"/>
                </a:solidFill>
                <a:latin typeface="Kermit Extrabold" panose="020F0502020204030204" pitchFamily="34" charset="0"/>
              </a:rPr>
              <a:t>Data </a:t>
            </a:r>
            <a:r>
              <a:rPr lang="it-IT" i="1" dirty="0" err="1">
                <a:solidFill>
                  <a:srgbClr val="E16D53"/>
                </a:solidFill>
                <a:latin typeface="Kermit Extrabold" panose="020F0502020204030204" pitchFamily="34" charset="0"/>
              </a:rPr>
              <a:t>Visualization</a:t>
            </a:r>
            <a:endParaRPr lang="it-IT" dirty="0"/>
          </a:p>
        </p:txBody>
      </p:sp>
      <p:pic>
        <p:nvPicPr>
          <p:cNvPr id="3" name="Immagine 2">
            <a:extLst>
              <a:ext uri="{FF2B5EF4-FFF2-40B4-BE49-F238E27FC236}">
                <a16:creationId xmlns:a16="http://schemas.microsoft.com/office/drawing/2014/main" id="{84043171-0C53-B9F0-BCBA-71D06B237BF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267972" y="254633"/>
            <a:ext cx="1679429" cy="1653772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4" name="Immagine 3">
            <a:extLst>
              <a:ext uri="{FF2B5EF4-FFF2-40B4-BE49-F238E27FC236}">
                <a16:creationId xmlns:a16="http://schemas.microsoft.com/office/drawing/2014/main" id="{FF94CF44-F851-4E27-4F84-807ABAA3CBD9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958" b="8579"/>
          <a:stretch>
            <a:fillRect/>
          </a:stretch>
        </p:blipFill>
        <p:spPr>
          <a:xfrm>
            <a:off x="10289512" y="6235458"/>
            <a:ext cx="1902488" cy="698360"/>
          </a:xfrm>
          <a:prstGeom prst="rect">
            <a:avLst/>
          </a:prstGeom>
        </p:spPr>
      </p:pic>
      <p:pic>
        <p:nvPicPr>
          <p:cNvPr id="24" name="Picture 12" descr="The Best Way to Embed Elasticsearch">
            <a:extLst>
              <a:ext uri="{FF2B5EF4-FFF2-40B4-BE49-F238E27FC236}">
                <a16:creationId xmlns:a16="http://schemas.microsoft.com/office/drawing/2014/main" id="{BAB2A8CD-3CD4-D833-0153-FCBEB49C116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600" t="12895" r="7734" b="19068"/>
          <a:stretch>
            <a:fillRect/>
          </a:stretch>
        </p:blipFill>
        <p:spPr bwMode="auto">
          <a:xfrm>
            <a:off x="7786763" y="2178914"/>
            <a:ext cx="2207583" cy="11966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6" name="CasellaDiTesto 25">
            <a:extLst>
              <a:ext uri="{FF2B5EF4-FFF2-40B4-BE49-F238E27FC236}">
                <a16:creationId xmlns:a16="http://schemas.microsoft.com/office/drawing/2014/main" id="{8F164B27-D134-40E0-2E49-017C39BBE426}"/>
              </a:ext>
            </a:extLst>
          </p:cNvPr>
          <p:cNvSpPr txBox="1"/>
          <p:nvPr/>
        </p:nvSpPr>
        <p:spPr>
          <a:xfrm>
            <a:off x="8053195" y="3375548"/>
            <a:ext cx="165181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1600" dirty="0">
                <a:solidFill>
                  <a:schemeClr val="bg1">
                    <a:lumMod val="65000"/>
                  </a:schemeClr>
                </a:solidFill>
              </a:rPr>
              <a:t>‘</a:t>
            </a:r>
            <a:r>
              <a:rPr lang="it-IT" sz="1600" dirty="0" err="1">
                <a:solidFill>
                  <a:schemeClr val="bg1">
                    <a:lumMod val="65000"/>
                  </a:schemeClr>
                </a:solidFill>
              </a:rPr>
              <a:t>thesis-analysis</a:t>
            </a:r>
            <a:r>
              <a:rPr lang="it-IT" sz="1600" dirty="0">
                <a:solidFill>
                  <a:schemeClr val="bg1">
                    <a:lumMod val="65000"/>
                  </a:schemeClr>
                </a:solidFill>
              </a:rPr>
              <a:t>’</a:t>
            </a:r>
          </a:p>
        </p:txBody>
      </p:sp>
      <p:pic>
        <p:nvPicPr>
          <p:cNvPr id="11" name="Picture 14" descr="A cosa serve Kibana? - Flowygo">
            <a:extLst>
              <a:ext uri="{FF2B5EF4-FFF2-40B4-BE49-F238E27FC236}">
                <a16:creationId xmlns:a16="http://schemas.microsoft.com/office/drawing/2014/main" id="{DC710226-0F00-39AC-D0F9-120F2584DDB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53195" y="4794786"/>
            <a:ext cx="1791387" cy="11351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Immagine 13">
            <a:extLst>
              <a:ext uri="{FF2B5EF4-FFF2-40B4-BE49-F238E27FC236}">
                <a16:creationId xmlns:a16="http://schemas.microsoft.com/office/drawing/2014/main" id="{8F5CC0C7-F396-2F4C-FC2F-B426760906A0}"/>
              </a:ext>
            </a:extLst>
          </p:cNvPr>
          <p:cNvPicPr>
            <a:picLocks noChangeAspect="1"/>
          </p:cNvPicPr>
          <p:nvPr/>
        </p:nvPicPr>
        <p:blipFill>
          <a:blip r:embed="rId6">
            <a:alphaModFix amt="50000"/>
          </a:blip>
          <a:stretch>
            <a:fillRect/>
          </a:stretch>
        </p:blipFill>
        <p:spPr>
          <a:xfrm>
            <a:off x="5583047" y="1149245"/>
            <a:ext cx="1098056" cy="569649"/>
          </a:xfrm>
          <a:prstGeom prst="rect">
            <a:avLst/>
          </a:prstGeom>
        </p:spPr>
      </p:pic>
      <p:cxnSp>
        <p:nvCxnSpPr>
          <p:cNvPr id="15" name="Connettore 2 14">
            <a:extLst>
              <a:ext uri="{FF2B5EF4-FFF2-40B4-BE49-F238E27FC236}">
                <a16:creationId xmlns:a16="http://schemas.microsoft.com/office/drawing/2014/main" id="{6B189BD0-F227-69C0-474B-AED849E4ED07}"/>
              </a:ext>
            </a:extLst>
          </p:cNvPr>
          <p:cNvCxnSpPr>
            <a:cxnSpLocks/>
          </p:cNvCxnSpPr>
          <p:nvPr/>
        </p:nvCxnSpPr>
        <p:spPr>
          <a:xfrm>
            <a:off x="6144090" y="2184009"/>
            <a:ext cx="1925129" cy="381951"/>
          </a:xfrm>
          <a:prstGeom prst="straightConnector1">
            <a:avLst/>
          </a:prstGeom>
          <a:ln w="38100" cap="flat" cmpd="sng" algn="ctr">
            <a:solidFill>
              <a:srgbClr val="D53774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8" name="Connettore 2 17">
            <a:extLst>
              <a:ext uri="{FF2B5EF4-FFF2-40B4-BE49-F238E27FC236}">
                <a16:creationId xmlns:a16="http://schemas.microsoft.com/office/drawing/2014/main" id="{A69949CA-37D1-DC43-D44A-3848977C2444}"/>
              </a:ext>
            </a:extLst>
          </p:cNvPr>
          <p:cNvCxnSpPr>
            <a:cxnSpLocks/>
          </p:cNvCxnSpPr>
          <p:nvPr/>
        </p:nvCxnSpPr>
        <p:spPr>
          <a:xfrm flipH="1">
            <a:off x="4218961" y="2184009"/>
            <a:ext cx="1925129" cy="381951"/>
          </a:xfrm>
          <a:prstGeom prst="straightConnector1">
            <a:avLst/>
          </a:prstGeom>
          <a:ln w="38100" cap="flat" cmpd="sng" algn="ctr">
            <a:solidFill>
              <a:srgbClr val="D53774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9" name="Connettore diritto 18">
            <a:extLst>
              <a:ext uri="{FF2B5EF4-FFF2-40B4-BE49-F238E27FC236}">
                <a16:creationId xmlns:a16="http://schemas.microsoft.com/office/drawing/2014/main" id="{DA7B65EB-13FD-B1F9-B6E9-E95F392854A2}"/>
              </a:ext>
            </a:extLst>
          </p:cNvPr>
          <p:cNvCxnSpPr>
            <a:cxnSpLocks/>
          </p:cNvCxnSpPr>
          <p:nvPr/>
        </p:nvCxnSpPr>
        <p:spPr>
          <a:xfrm>
            <a:off x="6132075" y="1818968"/>
            <a:ext cx="0" cy="359947"/>
          </a:xfrm>
          <a:prstGeom prst="line">
            <a:avLst/>
          </a:prstGeom>
          <a:ln w="38100">
            <a:solidFill>
              <a:srgbClr val="D5377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3" name="Picture 2">
            <a:extLst>
              <a:ext uri="{FF2B5EF4-FFF2-40B4-BE49-F238E27FC236}">
                <a16:creationId xmlns:a16="http://schemas.microsoft.com/office/drawing/2014/main" id="{DB3271A3-2B58-FE15-DE9C-9205FACEE47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24872" y="2394923"/>
            <a:ext cx="717479" cy="7174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27" name="Connettore 2 26">
            <a:extLst>
              <a:ext uri="{FF2B5EF4-FFF2-40B4-BE49-F238E27FC236}">
                <a16:creationId xmlns:a16="http://schemas.microsoft.com/office/drawing/2014/main" id="{4802063D-ABD4-E1C1-0906-7EDD5531DB69}"/>
              </a:ext>
            </a:extLst>
          </p:cNvPr>
          <p:cNvCxnSpPr>
            <a:cxnSpLocks/>
          </p:cNvCxnSpPr>
          <p:nvPr/>
        </p:nvCxnSpPr>
        <p:spPr>
          <a:xfrm>
            <a:off x="8879104" y="3789404"/>
            <a:ext cx="11450" cy="930080"/>
          </a:xfrm>
          <a:prstGeom prst="straightConnector1">
            <a:avLst/>
          </a:prstGeom>
          <a:ln w="38100" cap="flat" cmpd="sng" algn="ctr">
            <a:solidFill>
              <a:srgbClr val="D53774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0" name="Connettore 2 29">
            <a:extLst>
              <a:ext uri="{FF2B5EF4-FFF2-40B4-BE49-F238E27FC236}">
                <a16:creationId xmlns:a16="http://schemas.microsoft.com/office/drawing/2014/main" id="{DA6ED903-941C-CA3D-F0F5-DE76061C7529}"/>
              </a:ext>
            </a:extLst>
          </p:cNvPr>
          <p:cNvCxnSpPr>
            <a:cxnSpLocks/>
          </p:cNvCxnSpPr>
          <p:nvPr/>
        </p:nvCxnSpPr>
        <p:spPr>
          <a:xfrm rot="10800000" flipV="1">
            <a:off x="3059337" y="3280558"/>
            <a:ext cx="512825" cy="508845"/>
          </a:xfrm>
          <a:prstGeom prst="bentConnector3">
            <a:avLst>
              <a:gd name="adj1" fmla="val 2068"/>
            </a:avLst>
          </a:prstGeom>
          <a:ln w="38100" cap="flat" cmpd="sng" algn="ctr">
            <a:solidFill>
              <a:srgbClr val="D53774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pic>
        <p:nvPicPr>
          <p:cNvPr id="32" name="Immagine 31">
            <a:extLst>
              <a:ext uri="{FF2B5EF4-FFF2-40B4-BE49-F238E27FC236}">
                <a16:creationId xmlns:a16="http://schemas.microsoft.com/office/drawing/2014/main" id="{C4AE9AD2-5025-630A-75EC-286A7EB03645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9844" y="2178914"/>
            <a:ext cx="2646817" cy="43476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09248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5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2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500"/>
                            </p:stCondLst>
                            <p:childTnLst>
                              <p:par>
                                <p:cTn id="12" presetID="10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magine 4">
            <a:extLst>
              <a:ext uri="{FF2B5EF4-FFF2-40B4-BE49-F238E27FC236}">
                <a16:creationId xmlns:a16="http://schemas.microsoft.com/office/drawing/2014/main" id="{2C69765E-FDCA-4D4F-5F44-F3137DB7FC8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565" y="906517"/>
            <a:ext cx="5044966" cy="5044966"/>
          </a:xfrm>
          <a:prstGeom prst="rect">
            <a:avLst/>
          </a:prstGeom>
        </p:spPr>
      </p:pic>
      <p:pic>
        <p:nvPicPr>
          <p:cNvPr id="6" name="Immagine 5">
            <a:extLst>
              <a:ext uri="{FF2B5EF4-FFF2-40B4-BE49-F238E27FC236}">
                <a16:creationId xmlns:a16="http://schemas.microsoft.com/office/drawing/2014/main" id="{9701EA0C-9DA1-FD6E-E83F-2C565084D88F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958" b="8579"/>
          <a:stretch>
            <a:fillRect/>
          </a:stretch>
        </p:blipFill>
        <p:spPr>
          <a:xfrm>
            <a:off x="10289512" y="6235458"/>
            <a:ext cx="1902488" cy="698360"/>
          </a:xfrm>
          <a:prstGeom prst="rect">
            <a:avLst/>
          </a:prstGeom>
        </p:spPr>
      </p:pic>
      <p:sp>
        <p:nvSpPr>
          <p:cNvPr id="7" name="Titolo 1">
            <a:extLst>
              <a:ext uri="{FF2B5EF4-FFF2-40B4-BE49-F238E27FC236}">
                <a16:creationId xmlns:a16="http://schemas.microsoft.com/office/drawing/2014/main" id="{910FE3CD-B71D-F69A-FC52-1A93E90289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69874" y="2361691"/>
            <a:ext cx="3176954" cy="2938917"/>
          </a:xfrm>
        </p:spPr>
        <p:txBody>
          <a:bodyPr>
            <a:normAutofit/>
          </a:bodyPr>
          <a:lstStyle/>
          <a:p>
            <a:pPr algn="ctr"/>
            <a:r>
              <a:rPr lang="it-IT" i="1" dirty="0">
                <a:solidFill>
                  <a:srgbClr val="D53774"/>
                </a:solidFill>
                <a:latin typeface="Kermit Extrabold" panose="020F0502020204030204" pitchFamily="34" charset="0"/>
              </a:rPr>
              <a:t>Grazie per </a:t>
            </a:r>
            <a:br>
              <a:rPr lang="it-IT" i="1" dirty="0">
                <a:solidFill>
                  <a:srgbClr val="D53774"/>
                </a:solidFill>
                <a:latin typeface="Kermit Extrabold" panose="020F0502020204030204" pitchFamily="34" charset="0"/>
              </a:rPr>
            </a:br>
            <a:r>
              <a:rPr lang="it-IT" i="1" dirty="0">
                <a:solidFill>
                  <a:srgbClr val="D53774"/>
                </a:solidFill>
                <a:latin typeface="Kermit Extrabold" panose="020F0502020204030204" pitchFamily="34" charset="0"/>
              </a:rPr>
              <a:t>l’ascolto</a:t>
            </a:r>
            <a:br>
              <a:rPr lang="it-IT" i="1" dirty="0">
                <a:solidFill>
                  <a:srgbClr val="D53774"/>
                </a:solidFill>
                <a:latin typeface="Kermit Extrabold" panose="020F0502020204030204" pitchFamily="34" charset="0"/>
              </a:rPr>
            </a:br>
            <a:br>
              <a:rPr lang="it-IT" i="1" dirty="0">
                <a:solidFill>
                  <a:srgbClr val="D53774"/>
                </a:solidFill>
                <a:latin typeface="Kermit Extrabold" panose="020F0502020204030204" pitchFamily="34" charset="0"/>
              </a:rPr>
            </a:br>
            <a:r>
              <a:rPr lang="it-IT" dirty="0">
                <a:solidFill>
                  <a:srgbClr val="D53774"/>
                </a:solidFill>
                <a:latin typeface="Kermit Extrabold" panose="020F0502020204030204" pitchFamily="34" charset="0"/>
              </a:rPr>
              <a:t>✨</a:t>
            </a:r>
            <a:endParaRPr lang="it-IT" dirty="0">
              <a:solidFill>
                <a:srgbClr val="D5377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501152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2013 - Tema 2022">
  <a:themeElements>
    <a:clrScheme name="Office 2013 - Tema 2022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Tema 2022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Tema 2022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0</TotalTime>
  <Words>188</Words>
  <Application>Microsoft Office PowerPoint</Application>
  <PresentationFormat>Widescreen</PresentationFormat>
  <Paragraphs>58</Paragraphs>
  <Slides>16</Slides>
  <Notes>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4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16</vt:i4>
      </vt:variant>
    </vt:vector>
  </HeadingPairs>
  <TitlesOfParts>
    <vt:vector size="21" baseType="lpstr">
      <vt:lpstr>Arial</vt:lpstr>
      <vt:lpstr>Calibri</vt:lpstr>
      <vt:lpstr>Calibri Light</vt:lpstr>
      <vt:lpstr>Kermit Extrabold</vt:lpstr>
      <vt:lpstr>Office 2013 - Tema 2022</vt:lpstr>
      <vt:lpstr> 🤖 Thesis Coach </vt:lpstr>
      <vt:lpstr>Perché?</vt:lpstr>
      <vt:lpstr>Pipeline</vt:lpstr>
      <vt:lpstr>Data Ingestion</vt:lpstr>
      <vt:lpstr>Data Ingestion</vt:lpstr>
      <vt:lpstr>Data Ingestion</vt:lpstr>
      <vt:lpstr>Data Ingestion</vt:lpstr>
      <vt:lpstr>Presentazione standard di PowerPoint</vt:lpstr>
      <vt:lpstr>Presentazione standard di PowerPoint</vt:lpstr>
      <vt:lpstr>Data Analysis</vt:lpstr>
      <vt:lpstr>Data Analysis</vt:lpstr>
      <vt:lpstr>Data Analysis</vt:lpstr>
      <vt:lpstr>Data Indexing</vt:lpstr>
      <vt:lpstr>Data Visualization</vt:lpstr>
      <vt:lpstr>Data Visualization</vt:lpstr>
      <vt:lpstr>Grazie per  l’ascolto  ✨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Francesca Ciccarese</dc:creator>
  <cp:lastModifiedBy>Francesca Ciccarese</cp:lastModifiedBy>
  <cp:revision>3</cp:revision>
  <dcterms:created xsi:type="dcterms:W3CDTF">2026-03-28T14:38:59Z</dcterms:created>
  <dcterms:modified xsi:type="dcterms:W3CDTF">2026-03-30T15:02:29Z</dcterms:modified>
</cp:coreProperties>
</file>